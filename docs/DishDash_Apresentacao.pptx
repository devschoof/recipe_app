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image" Target="../media/image-7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image" Target="../media/image-9-6.png"/><Relationship Id="rId7" Type="http://schemas.openxmlformats.org/officeDocument/2006/relationships/image" Target="../media/image-9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rotWithShape="1">
            <a:gsLst>
              <a:gs pos="0">
                <a:srgbClr val="2B1220"/>
              </a:gs>
              <a:gs pos="100000">
                <a:srgbClr val="3A162A"/>
              </a:gs>
            </a:gsLst>
            <a:lin ang="2700000" scaled="0"/>
          </a:gradFill>
          <a:ln/>
        </p:spPr>
      </p:sp>
      <p:pic>
        <p:nvPicPr>
          <p:cNvPr id="3" name="Image 0" descr="ellipse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8128000" y="0"/>
            <a:ext cx="4064000" cy="4064000"/>
          </a:xfrm>
          <a:prstGeom prst="rect">
            <a:avLst/>
          </a:prstGeom>
        </p:spPr>
      </p:pic>
      <p:pic>
        <p:nvPicPr>
          <p:cNvPr id="4" name="Image 1" descr="ellipse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0" y="4191000"/>
            <a:ext cx="2667000" cy="266700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812800" y="2231390"/>
            <a:ext cx="3301208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spc="100" kern="0" dirty="0">
                <a:solidFill>
                  <a:srgbClr val="FF9F5B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PROJETO BIMESTRAL 1 · BRADEMO</a:t>
            </a:r>
            <a:endParaRPr lang="en-US" sz="1300" dirty="0"/>
          </a:p>
        </p:txBody>
      </p:sp>
      <p:sp>
        <p:nvSpPr>
          <p:cNvPr id="6" name="Text 2"/>
          <p:cNvSpPr/>
          <p:nvPr/>
        </p:nvSpPr>
        <p:spPr>
          <a:xfrm>
            <a:off x="812800" y="2665730"/>
            <a:ext cx="4562326" cy="939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7200"/>
              </a:lnSpc>
              <a:buNone/>
            </a:pPr>
            <a:r>
              <a:rPr lang="en-US" sz="7200" b="1" dirty="0">
                <a:solidFill>
                  <a:srgbClr val="FBF3EF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DishDash</a:t>
            </a:r>
            <a:endParaRPr lang="en-US" sz="7200" dirty="0"/>
          </a:p>
        </p:txBody>
      </p:sp>
      <p:sp>
        <p:nvSpPr>
          <p:cNvPr id="7" name="Text 3"/>
          <p:cNvSpPr/>
          <p:nvPr/>
        </p:nvSpPr>
        <p:spPr>
          <a:xfrm>
            <a:off x="812800" y="3783330"/>
            <a:ext cx="7194550" cy="665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00" dirty="0">
                <a:solidFill>
                  <a:srgbClr val="D9B8C2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Um aplicativo de receitas construído em Flutter, a partir do leiaute de referência Recipe App UI Kit.</a:t>
            </a:r>
            <a:endParaRPr lang="en-US" sz="1800" dirty="0"/>
          </a:p>
        </p:txBody>
      </p:sp>
      <p:sp>
        <p:nvSpPr>
          <p:cNvPr id="8" name="Text 4"/>
          <p:cNvSpPr/>
          <p:nvPr/>
        </p:nvSpPr>
        <p:spPr>
          <a:xfrm>
            <a:off x="812800" y="6238240"/>
            <a:ext cx="1272328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FBF3EF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Áquila &amp; Eduardo</a:t>
            </a:r>
            <a:endParaRPr lang="en-US" sz="1200" dirty="0"/>
          </a:p>
        </p:txBody>
      </p:sp>
      <p:sp>
        <p:nvSpPr>
          <p:cNvPr id="9" name="Text 5"/>
          <p:cNvSpPr/>
          <p:nvPr/>
        </p:nvSpPr>
        <p:spPr>
          <a:xfrm>
            <a:off x="2339128" y="6238240"/>
            <a:ext cx="1629304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D9B8C2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IFSP Bragança Paulista</a:t>
            </a:r>
            <a:endParaRPr lang="en-US" sz="1200" dirty="0"/>
          </a:p>
        </p:txBody>
      </p:sp>
      <p:sp>
        <p:nvSpPr>
          <p:cNvPr id="10" name="Text 6"/>
          <p:cNvSpPr/>
          <p:nvPr/>
        </p:nvSpPr>
        <p:spPr>
          <a:xfrm>
            <a:off x="4222433" y="6238240"/>
            <a:ext cx="174138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D9B8C2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28 de setembro de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BF3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C2185B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O DESAFIO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800" y="1076960"/>
            <a:ext cx="10883392" cy="492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680"/>
              </a:lnSpc>
              <a:buNone/>
            </a:pPr>
            <a:r>
              <a:rPr lang="en-US" sz="3200" b="1" dirty="0">
                <a:solidFill>
                  <a:srgbClr val="3A262B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O que a disciplina pediu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15975" y="1903095"/>
            <a:ext cx="5175250" cy="1589193"/>
          </a:xfrm>
          <a:prstGeom prst="roundRect">
            <a:avLst>
              <a:gd name="adj" fmla="val 9390"/>
            </a:avLst>
          </a:prstGeom>
          <a:solidFill>
            <a:srgbClr val="FFFFFF"/>
          </a:solidFill>
          <a:ln w="6350">
            <a:solidFill>
              <a:srgbClr val="F0DCD8"/>
            </a:solidFill>
            <a:prstDash val="solid"/>
          </a:ln>
        </p:spPr>
      </p:sp>
      <p:pic>
        <p:nvPicPr>
          <p:cNvPr id="5" name="Image 0" descr="Code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072092" y="2159212"/>
            <a:ext cx="254000" cy="2540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72092" y="2489412"/>
            <a:ext cx="4802907" cy="269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3A262B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Flutter + leiaute sorteado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1072092" y="2809452"/>
            <a:ext cx="4802907" cy="452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A5B62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Implementar um app a partir de um leiaute do Figma definido por sorteio entre os grupos.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6200775" y="1903095"/>
            <a:ext cx="5175250" cy="1589193"/>
          </a:xfrm>
          <a:prstGeom prst="roundRect">
            <a:avLst>
              <a:gd name="adj" fmla="val 9390"/>
            </a:avLst>
          </a:prstGeom>
          <a:solidFill>
            <a:srgbClr val="FFFFFF"/>
          </a:solidFill>
          <a:ln w="6350">
            <a:solidFill>
              <a:srgbClr val="F0DCD8"/>
            </a:solidFill>
            <a:prstDash val="solid"/>
          </a:ln>
        </p:spPr>
      </p:sp>
      <p:pic>
        <p:nvPicPr>
          <p:cNvPr id="9" name="Image 1" descr="Lock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6456892" y="2159212"/>
            <a:ext cx="254000" cy="25400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6456892" y="2489412"/>
            <a:ext cx="4802907" cy="269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3A262B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Sem persistência de dados</a:t>
            </a:r>
            <a:endParaRPr lang="en-US" sz="1600" dirty="0"/>
          </a:p>
        </p:txBody>
      </p:sp>
      <p:sp>
        <p:nvSpPr>
          <p:cNvPr id="11" name="Text 7"/>
          <p:cNvSpPr/>
          <p:nvPr/>
        </p:nvSpPr>
        <p:spPr>
          <a:xfrm>
            <a:off x="6456892" y="2809452"/>
            <a:ext cx="4802907" cy="452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A5B62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Telas construídas com dados em memória (hard coded); sem banco de dados ou backend.</a:t>
            </a:r>
            <a:endParaRPr lang="en-US" sz="1200" dirty="0"/>
          </a:p>
        </p:txBody>
      </p:sp>
      <p:sp>
        <p:nvSpPr>
          <p:cNvPr id="12" name="Shape 8"/>
          <p:cNvSpPr/>
          <p:nvPr/>
        </p:nvSpPr>
        <p:spPr>
          <a:xfrm>
            <a:off x="815975" y="3701838"/>
            <a:ext cx="5175250" cy="1589193"/>
          </a:xfrm>
          <a:prstGeom prst="roundRect">
            <a:avLst>
              <a:gd name="adj" fmla="val 9390"/>
            </a:avLst>
          </a:prstGeom>
          <a:solidFill>
            <a:srgbClr val="FFFFFF"/>
          </a:solidFill>
          <a:ln w="6350">
            <a:solidFill>
              <a:srgbClr val="F0DCD8"/>
            </a:solidFill>
            <a:prstDash val="solid"/>
          </a:ln>
        </p:spPr>
      </p:sp>
      <p:pic>
        <p:nvPicPr>
          <p:cNvPr id="13" name="Image 2" descr="Users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1072092" y="3957955"/>
            <a:ext cx="254000" cy="25400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072092" y="4288155"/>
            <a:ext cx="4802907" cy="269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3A262B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Grupo de 2 alunos</a:t>
            </a:r>
            <a:endParaRPr lang="en-US" sz="1600" dirty="0"/>
          </a:p>
        </p:txBody>
      </p:sp>
      <p:sp>
        <p:nvSpPr>
          <p:cNvPr id="15" name="Text 10"/>
          <p:cNvSpPr/>
          <p:nvPr/>
        </p:nvSpPr>
        <p:spPr>
          <a:xfrm>
            <a:off x="1072092" y="4608195"/>
            <a:ext cx="4802907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A5B62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Projeto desenvolvido por Áquila e Eduardo.</a:t>
            </a:r>
            <a:endParaRPr lang="en-US" sz="1200" dirty="0"/>
          </a:p>
        </p:txBody>
      </p:sp>
      <p:sp>
        <p:nvSpPr>
          <p:cNvPr id="16" name="Shape 11"/>
          <p:cNvSpPr/>
          <p:nvPr/>
        </p:nvSpPr>
        <p:spPr>
          <a:xfrm>
            <a:off x="6200775" y="3701838"/>
            <a:ext cx="5175250" cy="1589193"/>
          </a:xfrm>
          <a:prstGeom prst="roundRect">
            <a:avLst>
              <a:gd name="adj" fmla="val 9390"/>
            </a:avLst>
          </a:prstGeom>
          <a:solidFill>
            <a:srgbClr val="FFFFFF"/>
          </a:solidFill>
          <a:ln w="6350">
            <a:solidFill>
              <a:srgbClr val="F0DCD8"/>
            </a:solidFill>
            <a:prstDash val="solid"/>
          </a:ln>
        </p:spPr>
      </p:sp>
      <p:pic>
        <p:nvPicPr>
          <p:cNvPr id="17" name="Image 3" descr="Star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6456892" y="3957955"/>
            <a:ext cx="254000" cy="25400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6456892" y="4288155"/>
            <a:ext cx="4802907" cy="269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3A262B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Fidelidade + recursos Flutter</a:t>
            </a:r>
            <a:endParaRPr lang="en-US" sz="1600" dirty="0"/>
          </a:p>
        </p:txBody>
      </p:sp>
      <p:sp>
        <p:nvSpPr>
          <p:cNvPr id="19" name="Text 13"/>
          <p:cNvSpPr/>
          <p:nvPr/>
        </p:nvSpPr>
        <p:spPr>
          <a:xfrm>
            <a:off x="6456892" y="4608195"/>
            <a:ext cx="4802907" cy="452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A5B62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Nota dividida entre fidelidade ao leiaute (5,0) e recursos Flutter obrigatórios RC1–RC7 (5,0).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BF3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C2185B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O APLICATIVO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800" y="1076961"/>
            <a:ext cx="10883392" cy="492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680"/>
              </a:lnSpc>
              <a:buNone/>
            </a:pPr>
            <a:r>
              <a:rPr lang="en-US" sz="3200" b="1" dirty="0">
                <a:solidFill>
                  <a:srgbClr val="3A262B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DishDash: receitas na palma da mão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812800" y="3204211"/>
            <a:ext cx="5232400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4A3238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App para descobrir, buscar e cadastrar receitas, com base no leiaute </a:t>
            </a:r>
            <a:r>
              <a:rPr lang="en-US" sz="1400" b="1" dirty="0">
                <a:solidFill>
                  <a:srgbClr val="4A3238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Recipe App UI Kit — Food Mobile Cooking App</a:t>
            </a:r>
            <a:r>
              <a:rPr lang="en-US" sz="1400" dirty="0">
                <a:solidFill>
                  <a:srgbClr val="4A3238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 (Figma).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812800" y="4156711"/>
            <a:ext cx="5232400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4A3238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Identidade visual mantida: paleta em rosa/coral, cards arredondados e tipografia amigável.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302375" y="2704888"/>
            <a:ext cx="5073650" cy="540173"/>
          </a:xfrm>
          <a:prstGeom prst="roundRect">
            <a:avLst>
              <a:gd name="adj" fmla="val 18221"/>
            </a:avLst>
          </a:prstGeom>
          <a:solidFill>
            <a:srgbClr val="FFFFFF"/>
          </a:solidFill>
          <a:ln w="6350">
            <a:solidFill>
              <a:srgbClr val="F0DCD8"/>
            </a:solidFill>
            <a:prstDash val="solid"/>
          </a:ln>
        </p:spPr>
      </p:sp>
      <p:pic>
        <p:nvPicPr>
          <p:cNvPr id="7" name="Image 0" descr="Search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507692" y="2873375"/>
            <a:ext cx="203200" cy="2032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837892" y="2859405"/>
            <a:ext cx="2080860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3A262B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Busca e filtro por categoria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302375" y="3353012"/>
            <a:ext cx="5073650" cy="540173"/>
          </a:xfrm>
          <a:prstGeom prst="roundRect">
            <a:avLst>
              <a:gd name="adj" fmla="val 18221"/>
            </a:avLst>
          </a:prstGeom>
          <a:solidFill>
            <a:srgbClr val="FFFFFF"/>
          </a:solidFill>
          <a:ln w="6350">
            <a:solidFill>
              <a:srgbClr val="F0DCD8"/>
            </a:solidFill>
            <a:prstDash val="solid"/>
          </a:ln>
        </p:spPr>
      </p:sp>
      <p:pic>
        <p:nvPicPr>
          <p:cNvPr id="10" name="Image 1" descr="Star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6507692" y="3521498"/>
            <a:ext cx="203200" cy="20320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6837892" y="3507529"/>
            <a:ext cx="1378268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3A262B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Receitas favoritas</a:t>
            </a:r>
            <a:endParaRPr lang="en-US" sz="1300" dirty="0"/>
          </a:p>
        </p:txBody>
      </p:sp>
      <p:sp>
        <p:nvSpPr>
          <p:cNvPr id="12" name="Shape 8"/>
          <p:cNvSpPr/>
          <p:nvPr/>
        </p:nvSpPr>
        <p:spPr>
          <a:xfrm>
            <a:off x="6302375" y="4001136"/>
            <a:ext cx="5073650" cy="540173"/>
          </a:xfrm>
          <a:prstGeom prst="roundRect">
            <a:avLst>
              <a:gd name="adj" fmla="val 18221"/>
            </a:avLst>
          </a:prstGeom>
          <a:solidFill>
            <a:srgbClr val="FFFFFF"/>
          </a:solidFill>
          <a:ln w="6350">
            <a:solidFill>
              <a:srgbClr val="F0DCD8"/>
            </a:solidFill>
            <a:prstDash val="solid"/>
          </a:ln>
        </p:spPr>
      </p:sp>
      <p:pic>
        <p:nvPicPr>
          <p:cNvPr id="13" name="Image 2" descr="Book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6507692" y="4169621"/>
            <a:ext cx="203200" cy="20320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6837892" y="4155652"/>
            <a:ext cx="2075628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3A262B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Cadastro de novas receitas</a:t>
            </a:r>
            <a:endParaRPr lang="en-US" sz="1300" dirty="0"/>
          </a:p>
        </p:txBody>
      </p:sp>
      <p:sp>
        <p:nvSpPr>
          <p:cNvPr id="15" name="Shape 10"/>
          <p:cNvSpPr/>
          <p:nvPr/>
        </p:nvSpPr>
        <p:spPr>
          <a:xfrm>
            <a:off x="6302375" y="4649259"/>
            <a:ext cx="5073650" cy="540173"/>
          </a:xfrm>
          <a:prstGeom prst="roundRect">
            <a:avLst>
              <a:gd name="adj" fmla="val 18221"/>
            </a:avLst>
          </a:prstGeom>
          <a:solidFill>
            <a:srgbClr val="FFFFFF"/>
          </a:solidFill>
          <a:ln w="6350">
            <a:solidFill>
              <a:srgbClr val="F0DCD8"/>
            </a:solidFill>
            <a:prstDash val="solid"/>
          </a:ln>
        </p:spPr>
      </p:sp>
      <p:pic>
        <p:nvPicPr>
          <p:cNvPr id="16" name="Image 3" descr="Chart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6507692" y="4817745"/>
            <a:ext cx="203200" cy="20320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6837892" y="4803775"/>
            <a:ext cx="2380415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3A262B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Layout responsivo (lista/grade)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BF3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C2185B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RC1 · ARQUITETURA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800" y="1076961"/>
            <a:ext cx="10883392" cy="492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680"/>
              </a:lnSpc>
              <a:buNone/>
            </a:pPr>
            <a:r>
              <a:rPr lang="en-US" sz="3200" b="1" dirty="0">
                <a:solidFill>
                  <a:srgbClr val="3A262B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Estrutura de pastas em camadas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12800" y="1849120"/>
            <a:ext cx="2527300" cy="3677920"/>
          </a:xfrm>
          <a:prstGeom prst="roundRect">
            <a:avLst>
              <a:gd name="adj" fmla="val 5025"/>
            </a:avLst>
          </a:prstGeom>
          <a:solidFill>
            <a:srgbClr val="FFFFFF"/>
          </a:solidFill>
          <a:ln/>
        </p:spPr>
      </p:sp>
      <p:sp>
        <p:nvSpPr>
          <p:cNvPr id="5" name="Shape 3"/>
          <p:cNvSpPr/>
          <p:nvPr/>
        </p:nvSpPr>
        <p:spPr>
          <a:xfrm>
            <a:off x="812800" y="1849120"/>
            <a:ext cx="2527300" cy="3677920"/>
          </a:xfrm>
          <a:custGeom>
            <a:avLst/>
            <a:gdLst/>
            <a:ahLst/>
            <a:cxnLst/>
            <a:rect l="l" t="t" r="r" b="b"/>
            <a:pathLst>
              <a:path w="2527300" h="3677920">
                <a:moveTo>
                  <a:pt x="0" y="127000"/>
                </a:moveTo>
                <a:lnTo>
                  <a:pt x="0" y="127000"/>
                </a:lnTo>
                <a:arcTo hR="127000" wR="127000" stAng="10800000" swAng="5400000"/>
                <a:lnTo>
                  <a:pt x="2400300" y="0"/>
                </a:lnTo>
                <a:arcTo hR="127000" wR="127000" stAng="16200000" swAng="5400000"/>
                <a:lnTo>
                  <a:pt x="2527300" y="127000"/>
                </a:lnTo>
                <a:arcTo hR="76200" wR="127000" stAng="0" swAng="-5400000"/>
                <a:lnTo>
                  <a:pt x="127000" y="50800"/>
                </a:lnTo>
                <a:arcTo hR="76200" wR="127000" stAng="16200000" swAng="-5400000"/>
                <a:close/>
              </a:path>
            </a:pathLst>
          </a:custGeom>
          <a:solidFill>
            <a:srgbClr val="FF5B7F"/>
          </a:solidFill>
          <a:ln/>
        </p:spPr>
      </p:sp>
      <p:sp>
        <p:nvSpPr>
          <p:cNvPr id="6" name="Text 4"/>
          <p:cNvSpPr/>
          <p:nvPr/>
        </p:nvSpPr>
        <p:spPr>
          <a:xfrm>
            <a:off x="1016000" y="2099945"/>
            <a:ext cx="2184527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3A262B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screens/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016000" y="2430145"/>
            <a:ext cx="2184527" cy="939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7A5B62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splash_screen</a:t>
            </a:r>
            <a:endParaRPr lang="en-US" sz="120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7A5B62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recipes_list_screen</a:t>
            </a:r>
            <a:endParaRPr lang="en-US" sz="120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7A5B62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recipe_form_screen</a:t>
            </a:r>
            <a:endParaRPr lang="en-US" sz="120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7A5B62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recipe_detail_screen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492500" y="1849120"/>
            <a:ext cx="2527300" cy="3677920"/>
          </a:xfrm>
          <a:prstGeom prst="roundRect">
            <a:avLst>
              <a:gd name="adj" fmla="val 5025"/>
            </a:avLst>
          </a:prstGeom>
          <a:solidFill>
            <a:srgbClr val="FFFFFF"/>
          </a:solidFill>
          <a:ln/>
        </p:spPr>
      </p:sp>
      <p:sp>
        <p:nvSpPr>
          <p:cNvPr id="9" name="Shape 7"/>
          <p:cNvSpPr/>
          <p:nvPr/>
        </p:nvSpPr>
        <p:spPr>
          <a:xfrm>
            <a:off x="3492500" y="1849120"/>
            <a:ext cx="2527300" cy="3677920"/>
          </a:xfrm>
          <a:custGeom>
            <a:avLst/>
            <a:gdLst/>
            <a:ahLst/>
            <a:cxnLst/>
            <a:rect l="l" t="t" r="r" b="b"/>
            <a:pathLst>
              <a:path w="2527300" h="3677920">
                <a:moveTo>
                  <a:pt x="0" y="127000"/>
                </a:moveTo>
                <a:lnTo>
                  <a:pt x="0" y="127000"/>
                </a:lnTo>
                <a:arcTo hR="127000" wR="127000" stAng="10800000" swAng="5400000"/>
                <a:lnTo>
                  <a:pt x="2400300" y="0"/>
                </a:lnTo>
                <a:arcTo hR="127000" wR="127000" stAng="16200000" swAng="5400000"/>
                <a:lnTo>
                  <a:pt x="2527300" y="127000"/>
                </a:lnTo>
                <a:arcTo hR="76200" wR="127000" stAng="0" swAng="-5400000"/>
                <a:lnTo>
                  <a:pt x="127000" y="50800"/>
                </a:lnTo>
                <a:arcTo hR="76200" wR="127000" stAng="16200000" swAng="-5400000"/>
                <a:close/>
              </a:path>
            </a:pathLst>
          </a:custGeom>
          <a:solidFill>
            <a:srgbClr val="FF9F5B"/>
          </a:solidFill>
          <a:ln/>
        </p:spPr>
      </p:sp>
      <p:sp>
        <p:nvSpPr>
          <p:cNvPr id="10" name="Text 8"/>
          <p:cNvSpPr/>
          <p:nvPr/>
        </p:nvSpPr>
        <p:spPr>
          <a:xfrm>
            <a:off x="3695700" y="2099945"/>
            <a:ext cx="2184527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3A262B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models/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3695700" y="2430145"/>
            <a:ext cx="2184527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7A5B62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recipe_model</a:t>
            </a:r>
            <a:endParaRPr lang="en-US" sz="120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7A5B62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ingredient_model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172200" y="1849120"/>
            <a:ext cx="2527300" cy="3677920"/>
          </a:xfrm>
          <a:prstGeom prst="roundRect">
            <a:avLst>
              <a:gd name="adj" fmla="val 5025"/>
            </a:avLst>
          </a:prstGeom>
          <a:solidFill>
            <a:srgbClr val="FFFFFF"/>
          </a:solidFill>
          <a:ln/>
        </p:spPr>
      </p:sp>
      <p:sp>
        <p:nvSpPr>
          <p:cNvPr id="13" name="Shape 11"/>
          <p:cNvSpPr/>
          <p:nvPr/>
        </p:nvSpPr>
        <p:spPr>
          <a:xfrm>
            <a:off x="6172200" y="1849120"/>
            <a:ext cx="2527300" cy="3677920"/>
          </a:xfrm>
          <a:custGeom>
            <a:avLst/>
            <a:gdLst/>
            <a:ahLst/>
            <a:cxnLst/>
            <a:rect l="l" t="t" r="r" b="b"/>
            <a:pathLst>
              <a:path w="2527300" h="3677920">
                <a:moveTo>
                  <a:pt x="0" y="127000"/>
                </a:moveTo>
                <a:lnTo>
                  <a:pt x="0" y="127000"/>
                </a:lnTo>
                <a:arcTo hR="127000" wR="127000" stAng="10800000" swAng="5400000"/>
                <a:lnTo>
                  <a:pt x="2400300" y="0"/>
                </a:lnTo>
                <a:arcTo hR="127000" wR="127000" stAng="16200000" swAng="5400000"/>
                <a:lnTo>
                  <a:pt x="2527300" y="127000"/>
                </a:lnTo>
                <a:arcTo hR="76200" wR="127000" stAng="0" swAng="-5400000"/>
                <a:lnTo>
                  <a:pt x="127000" y="50800"/>
                </a:lnTo>
                <a:arcTo hR="76200" wR="127000" stAng="16200000" swAng="-5400000"/>
                <a:close/>
              </a:path>
            </a:pathLst>
          </a:custGeom>
          <a:solidFill>
            <a:srgbClr val="C2185B"/>
          </a:solidFill>
          <a:ln/>
        </p:spPr>
      </p:sp>
      <p:sp>
        <p:nvSpPr>
          <p:cNvPr id="14" name="Text 12"/>
          <p:cNvSpPr/>
          <p:nvPr/>
        </p:nvSpPr>
        <p:spPr>
          <a:xfrm>
            <a:off x="6375400" y="2099945"/>
            <a:ext cx="2184527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3A262B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widgets/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375400" y="2430145"/>
            <a:ext cx="2184527" cy="711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7A5B62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recipe_card</a:t>
            </a:r>
            <a:endParaRPr lang="en-US" sz="120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7A5B62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recipe_image</a:t>
            </a:r>
            <a:endParaRPr lang="en-US" sz="120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7A5B62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custom_app (AppBar)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8851900" y="1849120"/>
            <a:ext cx="2527300" cy="3677920"/>
          </a:xfrm>
          <a:prstGeom prst="roundRect">
            <a:avLst>
              <a:gd name="adj" fmla="val 5025"/>
            </a:avLst>
          </a:prstGeom>
          <a:solidFill>
            <a:srgbClr val="FFFFFF"/>
          </a:solidFill>
          <a:ln/>
        </p:spPr>
      </p:sp>
      <p:sp>
        <p:nvSpPr>
          <p:cNvPr id="17" name="Shape 15"/>
          <p:cNvSpPr/>
          <p:nvPr/>
        </p:nvSpPr>
        <p:spPr>
          <a:xfrm>
            <a:off x="8851900" y="1849120"/>
            <a:ext cx="2527300" cy="3677920"/>
          </a:xfrm>
          <a:custGeom>
            <a:avLst/>
            <a:gdLst/>
            <a:ahLst/>
            <a:cxnLst/>
            <a:rect l="l" t="t" r="r" b="b"/>
            <a:pathLst>
              <a:path w="2527300" h="3677920">
                <a:moveTo>
                  <a:pt x="0" y="127000"/>
                </a:moveTo>
                <a:lnTo>
                  <a:pt x="0" y="127000"/>
                </a:lnTo>
                <a:arcTo hR="127000" wR="127000" stAng="10800000" swAng="5400000"/>
                <a:lnTo>
                  <a:pt x="2400300" y="0"/>
                </a:lnTo>
                <a:arcTo hR="127000" wR="127000" stAng="16200000" swAng="5400000"/>
                <a:lnTo>
                  <a:pt x="2527300" y="127000"/>
                </a:lnTo>
                <a:arcTo hR="76200" wR="127000" stAng="0" swAng="-5400000"/>
                <a:lnTo>
                  <a:pt x="127000" y="50800"/>
                </a:lnTo>
                <a:arcTo hR="76200" wR="127000" stAng="16200000" swAng="-5400000"/>
                <a:close/>
              </a:path>
            </a:pathLst>
          </a:custGeom>
          <a:solidFill>
            <a:srgbClr val="3A262B"/>
          </a:solidFill>
          <a:ln/>
        </p:spPr>
      </p:sp>
      <p:sp>
        <p:nvSpPr>
          <p:cNvPr id="18" name="Text 16"/>
          <p:cNvSpPr/>
          <p:nvPr/>
        </p:nvSpPr>
        <p:spPr>
          <a:xfrm>
            <a:off x="9055100" y="2099945"/>
            <a:ext cx="2184527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3A262B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utils/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9055100" y="2430145"/>
            <a:ext cx="2184527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7A5B62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theme</a:t>
            </a:r>
            <a:endParaRPr lang="en-US" sz="120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7A5B62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constants (mock data)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812800" y="5831839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A5B62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main.dart concentra o MaterialApp, o tema e as rotas nomeadas.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BF3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C2185B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RC2 + RC3 · NAVEGAÇÃO E DADOS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800" y="1076961"/>
            <a:ext cx="10883392" cy="492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680"/>
              </a:lnSpc>
              <a:buNone/>
            </a:pPr>
            <a:r>
              <a:rPr lang="en-US" sz="3200" b="1" dirty="0">
                <a:solidFill>
                  <a:srgbClr val="3A262B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Rotas nomeadas com Navigator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15975" y="1903096"/>
            <a:ext cx="3007783" cy="1060873"/>
          </a:xfrm>
          <a:prstGeom prst="roundRect">
            <a:avLst>
              <a:gd name="adj" fmla="val 14066"/>
            </a:avLst>
          </a:prstGeom>
          <a:solidFill>
            <a:srgbClr val="FFFFFF"/>
          </a:solidFill>
          <a:ln w="6350">
            <a:solidFill>
              <a:srgbClr val="F0DCD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72092" y="2159211"/>
            <a:ext cx="2570417" cy="284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40"/>
              </a:lnSpc>
              <a:buNone/>
            </a:pPr>
            <a:r>
              <a:rPr lang="en-US" sz="1700" b="1" dirty="0">
                <a:solidFill>
                  <a:srgbClr val="3A262B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/form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1072092" y="2494493"/>
            <a:ext cx="2570417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A5B62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Formulário de nova receita</a:t>
            </a:r>
            <a:endParaRPr lang="en-US" sz="1200" dirty="0"/>
          </a:p>
        </p:txBody>
      </p:sp>
      <p:pic>
        <p:nvPicPr>
          <p:cNvPr id="7" name="Image 0" descr="arrow-right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3979333" y="2306532"/>
            <a:ext cx="457200" cy="25400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4592108" y="1903096"/>
            <a:ext cx="3007783" cy="1060873"/>
          </a:xfrm>
          <a:prstGeom prst="roundRect">
            <a:avLst>
              <a:gd name="adj" fmla="val 14066"/>
            </a:avLst>
          </a:prstGeom>
          <a:solidFill>
            <a:srgbClr val="FFFFFF"/>
          </a:solidFill>
          <a:ln w="6350">
            <a:solidFill>
              <a:srgbClr val="F0DCD8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4848225" y="2159211"/>
            <a:ext cx="2570417" cy="284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40"/>
              </a:lnSpc>
              <a:buNone/>
            </a:pPr>
            <a:r>
              <a:rPr lang="en-US" sz="1700" b="1" dirty="0">
                <a:solidFill>
                  <a:srgbClr val="3A262B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/home</a:t>
            </a:r>
            <a:endParaRPr lang="en-US" sz="1700" dirty="0"/>
          </a:p>
        </p:txBody>
      </p:sp>
      <p:sp>
        <p:nvSpPr>
          <p:cNvPr id="10" name="Text 7"/>
          <p:cNvSpPr/>
          <p:nvPr/>
        </p:nvSpPr>
        <p:spPr>
          <a:xfrm>
            <a:off x="4848225" y="2494493"/>
            <a:ext cx="2570417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A5B62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Lista de receitas (tela inicial)</a:t>
            </a:r>
            <a:endParaRPr lang="en-US" sz="1200" dirty="0"/>
          </a:p>
        </p:txBody>
      </p:sp>
      <p:pic>
        <p:nvPicPr>
          <p:cNvPr id="11" name="Image 1" descr="arrow-right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7755467" y="2306532"/>
            <a:ext cx="457200" cy="254000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8368242" y="1903096"/>
            <a:ext cx="3007783" cy="1060873"/>
          </a:xfrm>
          <a:prstGeom prst="roundRect">
            <a:avLst>
              <a:gd name="adj" fmla="val 14066"/>
            </a:avLst>
          </a:prstGeom>
          <a:solidFill>
            <a:srgbClr val="FFFFFF"/>
          </a:solidFill>
          <a:ln w="6350">
            <a:solidFill>
              <a:srgbClr val="F0DCD8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8624358" y="2159211"/>
            <a:ext cx="2570417" cy="284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40"/>
              </a:lnSpc>
              <a:buNone/>
            </a:pPr>
            <a:r>
              <a:rPr lang="en-US" sz="1700" b="1" dirty="0">
                <a:solidFill>
                  <a:srgbClr val="3A262B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/detail</a:t>
            </a:r>
            <a:endParaRPr lang="en-US" sz="1700" dirty="0"/>
          </a:p>
        </p:txBody>
      </p:sp>
      <p:sp>
        <p:nvSpPr>
          <p:cNvPr id="14" name="Text 10"/>
          <p:cNvSpPr/>
          <p:nvPr/>
        </p:nvSpPr>
        <p:spPr>
          <a:xfrm>
            <a:off x="8624358" y="2494493"/>
            <a:ext cx="2570417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A5B62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Detalhes da receita selecionada</a:t>
            </a:r>
            <a:endParaRPr lang="en-US" sz="1200" dirty="0"/>
          </a:p>
        </p:txBody>
      </p:sp>
      <p:sp>
        <p:nvSpPr>
          <p:cNvPr id="15" name="Shape 11"/>
          <p:cNvSpPr/>
          <p:nvPr/>
        </p:nvSpPr>
        <p:spPr>
          <a:xfrm>
            <a:off x="812800" y="3322743"/>
            <a:ext cx="5207000" cy="1097280"/>
          </a:xfrm>
          <a:prstGeom prst="roundRect">
            <a:avLst>
              <a:gd name="adj" fmla="val 11574"/>
            </a:avLst>
          </a:prstGeom>
          <a:solidFill>
            <a:srgbClr val="2B1220"/>
          </a:solidFill>
          <a:ln/>
        </p:spPr>
      </p:sp>
      <p:sp>
        <p:nvSpPr>
          <p:cNvPr id="16" name="Text 12"/>
          <p:cNvSpPr/>
          <p:nvPr/>
        </p:nvSpPr>
        <p:spPr>
          <a:xfrm>
            <a:off x="1016000" y="3525943"/>
            <a:ext cx="4944618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FF9F5B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pushNamed('/form') → pop(newRecipe)</a:t>
            </a:r>
            <a:endParaRPr lang="en-US" sz="1200" dirty="0"/>
          </a:p>
        </p:txBody>
      </p:sp>
      <p:sp>
        <p:nvSpPr>
          <p:cNvPr id="17" name="Text 13"/>
          <p:cNvSpPr/>
          <p:nvPr/>
        </p:nvSpPr>
        <p:spPr>
          <a:xfrm>
            <a:off x="1016000" y="3790104"/>
            <a:ext cx="4944618" cy="452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D9B8C2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A receita criada no formulário volta para a lista pelo retorno do Navigator.</a:t>
            </a:r>
            <a:endParaRPr lang="en-US" sz="1200" dirty="0"/>
          </a:p>
        </p:txBody>
      </p:sp>
      <p:sp>
        <p:nvSpPr>
          <p:cNvPr id="18" name="Shape 14"/>
          <p:cNvSpPr/>
          <p:nvPr/>
        </p:nvSpPr>
        <p:spPr>
          <a:xfrm>
            <a:off x="6172200" y="3322743"/>
            <a:ext cx="5207000" cy="1097280"/>
          </a:xfrm>
          <a:prstGeom prst="roundRect">
            <a:avLst>
              <a:gd name="adj" fmla="val 11574"/>
            </a:avLst>
          </a:prstGeom>
          <a:solidFill>
            <a:srgbClr val="2B1220"/>
          </a:solidFill>
          <a:ln/>
        </p:spPr>
      </p:sp>
      <p:sp>
        <p:nvSpPr>
          <p:cNvPr id="19" name="Text 15"/>
          <p:cNvSpPr/>
          <p:nvPr/>
        </p:nvSpPr>
        <p:spPr>
          <a:xfrm>
            <a:off x="6375400" y="3525943"/>
            <a:ext cx="4944618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FF5B7F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pushNamed('/detail', arguments: recipe)</a:t>
            </a:r>
            <a:endParaRPr lang="en-US" sz="1200" dirty="0"/>
          </a:p>
        </p:txBody>
      </p:sp>
      <p:sp>
        <p:nvSpPr>
          <p:cNvPr id="20" name="Text 16"/>
          <p:cNvSpPr/>
          <p:nvPr/>
        </p:nvSpPr>
        <p:spPr>
          <a:xfrm>
            <a:off x="6375400" y="3790104"/>
            <a:ext cx="4944618" cy="452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D9B8C2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O objeto Recipe é passado como argumento da rota e lido com ModalRoute.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BF3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C2185B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TELA 1 · BOAS-VINDAS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800" y="1076961"/>
            <a:ext cx="10883392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220"/>
              </a:lnSpc>
              <a:buNone/>
            </a:pPr>
            <a:r>
              <a:rPr lang="en-US" sz="2800" b="1" dirty="0">
                <a:solidFill>
                  <a:srgbClr val="3A262B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Splash animado de abertura</a:t>
            </a:r>
            <a:endParaRPr lang="en-US" sz="2800" dirty="0"/>
          </a:p>
        </p:txBody>
      </p:sp>
      <p:pic>
        <p:nvPicPr>
          <p:cNvPr id="4" name="Image 0" descr="Tela de splash real do DishDash, com fundo rosa, ícone, título e subtítulo">    </p:cNvPr>
          <p:cNvPicPr>
            <a:picLocks noChangeAspect="1"/>
          </p:cNvPicPr>
          <p:nvPr/>
        </p:nvPicPr>
        <p:blipFill>
          <a:blip r:embed="rId1"/>
          <a:srcRect l="0" r="0" t="-9244" b="-9244"/>
          <a:stretch/>
        </p:blipFill>
        <p:spPr>
          <a:xfrm>
            <a:off x="812800" y="2051050"/>
            <a:ext cx="2032000" cy="3683000"/>
          </a:xfrm>
          <a:prstGeom prst="rect">
            <a:avLst/>
          </a:prstGeom>
        </p:spPr>
      </p:pic>
      <p:pic>
        <p:nvPicPr>
          <p:cNvPr id="5" name="Image 1" descr="CheckCircle">    </p:cNvPr>
          <p:cNvPicPr>
            <a:picLocks noChangeAspect="1"/>
          </p:cNvPicPr>
          <p:nvPr/>
        </p:nvPicPr>
        <p:blipFill>
          <a:blip r:embed="rId2"/>
          <a:srcRect l="-591" r="-591" t="0" b="0"/>
          <a:stretch/>
        </p:blipFill>
        <p:spPr>
          <a:xfrm>
            <a:off x="3251200" y="3146425"/>
            <a:ext cx="199178" cy="20320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3551979" y="3146425"/>
            <a:ext cx="8062038" cy="520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300" dirty="0">
                <a:solidFill>
                  <a:srgbClr val="4A3238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Tela 1 do enunciado: AppBar/imagem/texto de apresentação e navegação inicial automática (Splash Screen).</a:t>
            </a:r>
            <a:endParaRPr lang="en-US" sz="1300" dirty="0"/>
          </a:p>
        </p:txBody>
      </p:sp>
      <p:pic>
        <p:nvPicPr>
          <p:cNvPr id="7" name="Image 2" descr="Clock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3251200" y="3768725"/>
            <a:ext cx="203200" cy="203200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3556000" y="3768725"/>
            <a:ext cx="7411694" cy="273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300" dirty="0">
                <a:solidFill>
                  <a:srgbClr val="4A3238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Após 3 segundos, navega sozinha para a Home com Navigator.pushReplacementNamed('/home').</a:t>
            </a:r>
            <a:endParaRPr lang="en-US" sz="1300" dirty="0"/>
          </a:p>
        </p:txBody>
      </p:sp>
      <p:pic>
        <p:nvPicPr>
          <p:cNvPr id="9" name="Image 3" descr="Code">    </p:cNvPr>
          <p:cNvPicPr>
            <a:picLocks noChangeAspect="1"/>
          </p:cNvPicPr>
          <p:nvPr/>
        </p:nvPicPr>
        <p:blipFill>
          <a:blip r:embed="rId4"/>
          <a:srcRect l="0" r="0" t="-255" b="-255"/>
          <a:stretch/>
        </p:blipFill>
        <p:spPr>
          <a:xfrm>
            <a:off x="3251200" y="4143375"/>
            <a:ext cx="145309" cy="203200"/>
          </a:xfrm>
          <a:prstGeom prst="rect">
            <a:avLst/>
          </a:prstGeom>
        </p:spPr>
      </p:pic>
      <p:sp>
        <p:nvSpPr>
          <p:cNvPr id="10" name="Text 4"/>
          <p:cNvSpPr/>
          <p:nvPr/>
        </p:nvSpPr>
        <p:spPr>
          <a:xfrm>
            <a:off x="3498109" y="4143375"/>
            <a:ext cx="8117524" cy="520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300" dirty="0">
                <a:solidFill>
                  <a:srgbClr val="4A3238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Print capturado ao vivo: a duração da splash foi aumentada temporariamente no código só para dar tempo do print, depois revertida para 3 segundos.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BF3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C2185B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TELA 2 · LISTA DE RECEITAS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800" y="1076961"/>
            <a:ext cx="10883392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220"/>
              </a:lnSpc>
              <a:buNone/>
            </a:pPr>
            <a:r>
              <a:rPr lang="en-US" sz="2800" b="1" dirty="0">
                <a:solidFill>
                  <a:srgbClr val="3A262B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Do celular à tela larga</a:t>
            </a:r>
            <a:endParaRPr lang="en-US" sz="2800" dirty="0"/>
          </a:p>
        </p:txBody>
      </p:sp>
      <p:pic>
        <p:nvPicPr>
          <p:cNvPr id="4" name="Image 0" descr="Lista de receitas em um celular: layout em coluna única">    </p:cNvPr>
          <p:cNvPicPr>
            <a:picLocks noChangeAspect="1"/>
          </p:cNvPicPr>
          <p:nvPr/>
        </p:nvPicPr>
        <p:blipFill>
          <a:blip r:embed="rId1"/>
          <a:srcRect l="0" r="0" t="-20" b="-20"/>
          <a:stretch/>
        </p:blipFill>
        <p:spPr>
          <a:xfrm>
            <a:off x="812800" y="1739900"/>
            <a:ext cx="1657350" cy="33020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271058" y="5118100"/>
            <a:ext cx="791633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3A262B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📱 Celular</a:t>
            </a:r>
            <a:endParaRPr lang="en-US" sz="1200" dirty="0"/>
          </a:p>
        </p:txBody>
      </p:sp>
      <p:pic>
        <p:nvPicPr>
          <p:cNvPr id="6" name="Image 1" descr="Lista de receitas em uma tela larga, com o ícone de alternância entre lista e grade visível na AppBar">    </p:cNvPr>
          <p:cNvPicPr>
            <a:picLocks noChangeAspect="1"/>
          </p:cNvPicPr>
          <p:nvPr/>
        </p:nvPicPr>
        <p:blipFill>
          <a:blip r:embed="rId2"/>
          <a:srcRect l="-12" r="-12" t="0" b="0"/>
          <a:stretch/>
        </p:blipFill>
        <p:spPr>
          <a:xfrm>
            <a:off x="2622550" y="1739900"/>
            <a:ext cx="2825750" cy="330200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3567324" y="5118100"/>
            <a:ext cx="986896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3A262B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💻 Tela larga</a:t>
            </a:r>
            <a:endParaRPr lang="en-US" sz="1200" dirty="0"/>
          </a:p>
        </p:txBody>
      </p:sp>
      <p:pic>
        <p:nvPicPr>
          <p:cNvPr id="8" name="Image 2" descr="CheckCircle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5753100" y="2774950"/>
            <a:ext cx="190500" cy="190500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6045200" y="2774950"/>
            <a:ext cx="478721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4A3238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Tela 2 do enunciado:</a:t>
            </a:r>
            <a:r>
              <a:rPr lang="en-US" sz="1200" dirty="0">
                <a:solidFill>
                  <a:srgbClr val="4A3238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 ListView com imagem, texto e ícones por item.</a:t>
            </a:r>
            <a:endParaRPr lang="en-US" sz="1200" dirty="0"/>
          </a:p>
        </p:txBody>
      </p:sp>
      <p:pic>
        <p:nvPicPr>
          <p:cNvPr id="10" name="Image 3" descr="Chart">    </p:cNvPr>
          <p:cNvPicPr>
            <a:picLocks noChangeAspect="1"/>
          </p:cNvPicPr>
          <p:nvPr/>
        </p:nvPicPr>
        <p:blipFill>
          <a:blip r:embed="rId4"/>
          <a:srcRect l="0" r="0" t="-79" b="-79"/>
          <a:stretch/>
        </p:blipFill>
        <p:spPr>
          <a:xfrm>
            <a:off x="5753100" y="3105150"/>
            <a:ext cx="133138" cy="190500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5987838" y="3105150"/>
            <a:ext cx="5553102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4A3238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RC5:</a:t>
            </a:r>
            <a:r>
              <a:rPr lang="en-US" sz="1200" dirty="0">
                <a:solidFill>
                  <a:srgbClr val="4A3238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 MediaQuery mede a largura da tela — abaixo de 600px é tratado como celular, acima disso como tela larga.</a:t>
            </a:r>
            <a:endParaRPr lang="en-US" sz="1200" dirty="0"/>
          </a:p>
        </p:txBody>
      </p:sp>
      <p:pic>
        <p:nvPicPr>
          <p:cNvPr id="12" name="Image 4" descr="Settings">    </p:cNvPr>
          <p:cNvPicPr>
            <a:picLocks noChangeAspect="1"/>
          </p:cNvPicPr>
          <p:nvPr/>
        </p:nvPicPr>
        <p:blipFill>
          <a:blip r:embed="rId5"/>
          <a:srcRect l="-1029" r="-1029" t="0" b="0"/>
          <a:stretch/>
        </p:blipFill>
        <p:spPr>
          <a:xfrm>
            <a:off x="5753100" y="3663950"/>
            <a:ext cx="110173" cy="190500"/>
          </a:xfrm>
          <a:prstGeom prst="rect">
            <a:avLst/>
          </a:prstGeom>
        </p:spPr>
      </p:pic>
      <p:sp>
        <p:nvSpPr>
          <p:cNvPr id="13" name="Text 6"/>
          <p:cNvSpPr/>
          <p:nvPr/>
        </p:nvSpPr>
        <p:spPr>
          <a:xfrm>
            <a:off x="5964872" y="3663950"/>
            <a:ext cx="5576757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4A3238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Nas capturas: no celular não existe botão de alternância; na tela larga, o ícone de grade aparece na AppBar para trocar entre lista e grade.</a:t>
            </a:r>
            <a:endParaRPr lang="en-US" sz="1200" dirty="0"/>
          </a:p>
        </p:txBody>
      </p:sp>
      <p:pic>
        <p:nvPicPr>
          <p:cNvPr id="14" name="Image 5" descr="Search">    </p:cNvPr>
          <p:cNvPicPr>
            <a:picLocks noChangeAspect="1"/>
          </p:cNvPicPr>
          <p:nvPr/>
        </p:nvPicPr>
        <p:blipFill>
          <a:blip r:embed="rId6"/>
          <a:srcRect l="-870" r="-870" t="0" b="0"/>
          <a:stretch/>
        </p:blipFill>
        <p:spPr>
          <a:xfrm>
            <a:off x="5753100" y="4222750"/>
            <a:ext cx="148590" cy="190500"/>
          </a:xfrm>
          <a:prstGeom prst="rect">
            <a:avLst/>
          </a:prstGeom>
        </p:spPr>
      </p:pic>
      <p:sp>
        <p:nvSpPr>
          <p:cNvPr id="15" name="Text 7"/>
          <p:cNvSpPr/>
          <p:nvPr/>
        </p:nvSpPr>
        <p:spPr>
          <a:xfrm>
            <a:off x="6003290" y="4222750"/>
            <a:ext cx="5537187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4A3238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Busca por nome e filtro por categoria (Todos, Doces, Salgados, Bebidas) funcionam nas duas versões.</a:t>
            </a:r>
            <a:endParaRPr lang="en-US" sz="1200" dirty="0"/>
          </a:p>
        </p:txBody>
      </p:sp>
      <p:pic>
        <p:nvPicPr>
          <p:cNvPr id="16" name="Image 6" descr="Star">    </p:cNvPr>
          <p:cNvPicPr>
            <a:picLocks noChangeAspect="1"/>
          </p:cNvPicPr>
          <p:nvPr/>
        </p:nvPicPr>
        <p:blipFill>
          <a:blip r:embed="rId7"/>
          <a:srcRect l="0" r="0" t="0" b="0"/>
          <a:stretch/>
        </p:blipFill>
        <p:spPr>
          <a:xfrm>
            <a:off x="5753100" y="4781550"/>
            <a:ext cx="190500" cy="190500"/>
          </a:xfrm>
          <a:prstGeom prst="rect">
            <a:avLst/>
          </a:prstGeom>
        </p:spPr>
      </p:pic>
      <p:sp>
        <p:nvSpPr>
          <p:cNvPr id="17" name="Text 8"/>
          <p:cNvSpPr/>
          <p:nvPr/>
        </p:nvSpPr>
        <p:spPr>
          <a:xfrm>
            <a:off x="6045200" y="4781550"/>
            <a:ext cx="533901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4A3238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RC7:</a:t>
            </a:r>
            <a:r>
              <a:rPr lang="en-US" sz="1200" dirty="0">
                <a:solidFill>
                  <a:srgbClr val="4A3238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 AppBar customizado e FloatingActionButton presentes nas duas telas.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BF3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C2185B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TELA 3 · FORMULÁRIO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800" y="1076961"/>
            <a:ext cx="10883392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220"/>
              </a:lnSpc>
              <a:buNone/>
            </a:pPr>
            <a:r>
              <a:rPr lang="en-US" sz="2800" b="1" dirty="0">
                <a:solidFill>
                  <a:srgbClr val="3A262B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Cadastro de nova receita</a:t>
            </a:r>
            <a:endParaRPr lang="en-US" sz="2800" dirty="0"/>
          </a:p>
        </p:txBody>
      </p:sp>
      <p:pic>
        <p:nvPicPr>
          <p:cNvPr id="4" name="Image 0" descr="Topo do formulário Nova Receita: campos de nome, descrição, categoria e tempo de preparo">    </p:cNvPr>
          <p:cNvPicPr>
            <a:picLocks noChangeAspect="1"/>
          </p:cNvPicPr>
          <p:nvPr/>
        </p:nvPicPr>
        <p:blipFill>
          <a:blip r:embed="rId1"/>
          <a:srcRect l="0" r="0" t="-1437" b="-1437"/>
          <a:stretch/>
        </p:blipFill>
        <p:spPr>
          <a:xfrm>
            <a:off x="812800" y="1739900"/>
            <a:ext cx="1778000" cy="3556000"/>
          </a:xfrm>
          <a:prstGeom prst="rect">
            <a:avLst/>
          </a:prstGeom>
        </p:spPr>
      </p:pic>
      <p:pic>
        <p:nvPicPr>
          <p:cNvPr id="5" name="Image 1" descr="Continuação do formulário: dificuldade, ingredientes, modo de preparo e botão Adicionar Receita">    </p:cNvPr>
          <p:cNvPicPr>
            <a:picLocks noChangeAspect="1"/>
          </p:cNvPicPr>
          <p:nvPr/>
        </p:nvPicPr>
        <p:blipFill>
          <a:blip r:embed="rId2"/>
          <a:srcRect l="0" r="0" t="-5440" b="-5440"/>
          <a:stretch/>
        </p:blipFill>
        <p:spPr>
          <a:xfrm>
            <a:off x="2717800" y="1739900"/>
            <a:ext cx="1778000" cy="3556000"/>
          </a:xfrm>
          <a:prstGeom prst="rect">
            <a:avLst/>
          </a:prstGeom>
        </p:spPr>
      </p:pic>
      <p:pic>
        <p:nvPicPr>
          <p:cNvPr id="6" name="Image 2" descr="CheckCircle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4800600" y="3125788"/>
            <a:ext cx="190500" cy="190500"/>
          </a:xfrm>
          <a:prstGeom prst="rect">
            <a:avLst/>
          </a:prstGeom>
        </p:spPr>
      </p:pic>
      <p:sp>
        <p:nvSpPr>
          <p:cNvPr id="7" name="Text 2"/>
          <p:cNvSpPr/>
          <p:nvPr/>
        </p:nvSpPr>
        <p:spPr>
          <a:xfrm>
            <a:off x="5092700" y="3125788"/>
            <a:ext cx="4826017" cy="2635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75"/>
              </a:lnSpc>
              <a:buNone/>
            </a:pPr>
            <a:r>
              <a:rPr lang="en-US" sz="1250" b="1" dirty="0">
                <a:solidFill>
                  <a:srgbClr val="4A3238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Tela 3 do enunciado:</a:t>
            </a:r>
            <a:r>
              <a:rPr lang="en-US" sz="1250" dirty="0">
                <a:solidFill>
                  <a:srgbClr val="4A3238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 TextField, validação básica e botão de envio.</a:t>
            </a:r>
            <a:endParaRPr lang="en-US" sz="1250" dirty="0"/>
          </a:p>
        </p:txBody>
      </p:sp>
      <p:pic>
        <p:nvPicPr>
          <p:cNvPr id="8" name="Image 3" descr="Warning">    </p:cNvPr>
          <p:cNvPicPr>
            <a:picLocks noChangeAspect="1"/>
          </p:cNvPicPr>
          <p:nvPr/>
        </p:nvPicPr>
        <p:blipFill>
          <a:blip r:embed="rId4"/>
          <a:srcRect l="-476" r="-476" t="0" b="0"/>
          <a:stretch/>
        </p:blipFill>
        <p:spPr>
          <a:xfrm>
            <a:off x="4800600" y="3478213"/>
            <a:ext cx="179493" cy="190500"/>
          </a:xfrm>
          <a:prstGeom prst="rect">
            <a:avLst/>
          </a:prstGeom>
        </p:spPr>
      </p:pic>
      <p:sp>
        <p:nvSpPr>
          <p:cNvPr id="9" name="Text 3"/>
          <p:cNvSpPr/>
          <p:nvPr/>
        </p:nvSpPr>
        <p:spPr>
          <a:xfrm>
            <a:off x="5081693" y="3478213"/>
            <a:ext cx="6486432" cy="5016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75"/>
              </a:lnSpc>
              <a:buNone/>
            </a:pPr>
            <a:r>
              <a:rPr lang="en-US" sz="1250" b="1" dirty="0">
                <a:solidFill>
                  <a:srgbClr val="4A3238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RC4:</a:t>
            </a:r>
            <a:r>
              <a:rPr lang="en-US" sz="1250" dirty="0">
                <a:solidFill>
                  <a:srgbClr val="4A3238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 validação exige nome, descrição, tempo, ingredientes e modo de preparo antes de enviar.</a:t>
            </a:r>
            <a:endParaRPr lang="en-US" sz="1250" dirty="0"/>
          </a:p>
        </p:txBody>
      </p:sp>
      <p:pic>
        <p:nvPicPr>
          <p:cNvPr id="10" name="Image 4" descr="Settings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4800600" y="4068763"/>
            <a:ext cx="190500" cy="190500"/>
          </a:xfrm>
          <a:prstGeom prst="rect">
            <a:avLst/>
          </a:prstGeom>
        </p:spPr>
      </p:pic>
      <p:sp>
        <p:nvSpPr>
          <p:cNvPr id="11" name="Text 4"/>
          <p:cNvSpPr/>
          <p:nvPr/>
        </p:nvSpPr>
        <p:spPr>
          <a:xfrm>
            <a:off x="5092700" y="4068763"/>
            <a:ext cx="5985321" cy="2635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75"/>
              </a:lnSpc>
              <a:buNone/>
            </a:pPr>
            <a:r>
              <a:rPr lang="en-US" sz="1250" dirty="0">
                <a:solidFill>
                  <a:srgbClr val="4A3238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Dropdowns de categoria e dificuldade, com indicador colorido (verde/laranja/rosa).</a:t>
            </a:r>
            <a:endParaRPr lang="en-US" sz="1250" dirty="0"/>
          </a:p>
        </p:txBody>
      </p:sp>
      <p:pic>
        <p:nvPicPr>
          <p:cNvPr id="12" name="Image 5" descr="PaperPlane">    </p:cNvPr>
          <p:cNvPicPr>
            <a:picLocks noChangeAspect="1"/>
          </p:cNvPicPr>
          <p:nvPr/>
        </p:nvPicPr>
        <p:blipFill>
          <a:blip r:embed="rId6"/>
          <a:srcRect l="0" r="0" t="0" b="0"/>
          <a:stretch/>
        </p:blipFill>
        <p:spPr>
          <a:xfrm>
            <a:off x="4800600" y="4421188"/>
            <a:ext cx="190500" cy="190500"/>
          </a:xfrm>
          <a:prstGeom prst="rect">
            <a:avLst/>
          </a:prstGeom>
        </p:spPr>
      </p:pic>
      <p:sp>
        <p:nvSpPr>
          <p:cNvPr id="13" name="Text 5"/>
          <p:cNvSpPr/>
          <p:nvPr/>
        </p:nvSpPr>
        <p:spPr>
          <a:xfrm>
            <a:off x="5092700" y="4421188"/>
            <a:ext cx="5929617" cy="2635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75"/>
              </a:lnSpc>
              <a:buNone/>
            </a:pPr>
            <a:r>
              <a:rPr lang="en-US" sz="1250" dirty="0">
                <a:solidFill>
                  <a:srgbClr val="4A3238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Ao confirmar, a receita entra na lista da Home — sem servidor, tudo em memória.</a:t>
            </a:r>
            <a:endParaRPr lang="en-US" sz="12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BF3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C2185B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TELA 4 · DETALHES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800" y="1076958"/>
            <a:ext cx="10883392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220"/>
              </a:lnSpc>
              <a:buNone/>
            </a:pPr>
            <a:r>
              <a:rPr lang="en-US" sz="2800" b="1" dirty="0">
                <a:solidFill>
                  <a:srgbClr val="3A262B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Ingredientes e modo de preparo</a:t>
            </a:r>
            <a:endParaRPr lang="en-US" sz="2800" dirty="0"/>
          </a:p>
        </p:txBody>
      </p:sp>
      <p:pic>
        <p:nvPicPr>
          <p:cNvPr id="4" name="Image 0" descr="Topo da tela de detalhes com o coração de favorito vazio (não favoritado)">    </p:cNvPr>
          <p:cNvPicPr>
            <a:picLocks noChangeAspect="1"/>
          </p:cNvPicPr>
          <p:nvPr/>
        </p:nvPicPr>
        <p:blipFill>
          <a:blip r:embed="rId1"/>
          <a:srcRect l="0" r="0" t="-2243" b="-2243"/>
          <a:stretch/>
        </p:blipFill>
        <p:spPr>
          <a:xfrm>
            <a:off x="812800" y="1739900"/>
            <a:ext cx="1587500" cy="3175000"/>
          </a:xfrm>
          <a:prstGeom prst="rect">
            <a:avLst/>
          </a:prstGeom>
        </p:spPr>
      </p:pic>
      <p:pic>
        <p:nvPicPr>
          <p:cNvPr id="5" name="Image 1" descr="Mesma tela com o coração de favorito preenchido, após o toque do usuário">    </p:cNvPr>
          <p:cNvPicPr>
            <a:picLocks noChangeAspect="1"/>
          </p:cNvPicPr>
          <p:nvPr/>
        </p:nvPicPr>
        <p:blipFill>
          <a:blip r:embed="rId2"/>
          <a:srcRect l="0" r="0" t="-213" b="-213"/>
          <a:stretch/>
        </p:blipFill>
        <p:spPr>
          <a:xfrm>
            <a:off x="2501900" y="1739900"/>
            <a:ext cx="1587500" cy="3175000"/>
          </a:xfrm>
          <a:prstGeom prst="rect">
            <a:avLst/>
          </a:prstGeom>
        </p:spPr>
      </p:pic>
      <p:pic>
        <p:nvPicPr>
          <p:cNvPr id="6" name="Image 2" descr="Lista de ingredientes e modo de preparo numerado da receita">    </p:cNvPr>
          <p:cNvPicPr>
            <a:picLocks noChangeAspect="1"/>
          </p:cNvPicPr>
          <p:nvPr/>
        </p:nvPicPr>
        <p:blipFill>
          <a:blip r:embed="rId3"/>
          <a:srcRect l="0" r="0" t="-4896" b="-4896"/>
          <a:stretch/>
        </p:blipFill>
        <p:spPr>
          <a:xfrm>
            <a:off x="4191000" y="1739900"/>
            <a:ext cx="1587500" cy="3175000"/>
          </a:xfrm>
          <a:prstGeom prst="rect">
            <a:avLst/>
          </a:prstGeom>
        </p:spPr>
      </p:pic>
      <p:pic>
        <p:nvPicPr>
          <p:cNvPr id="7" name="Image 3" descr="CheckCircle">    </p:cNvPr>
          <p:cNvPicPr>
            <a:picLocks noChangeAspect="1"/>
          </p:cNvPicPr>
          <p:nvPr/>
        </p:nvPicPr>
        <p:blipFill>
          <a:blip r:embed="rId4"/>
          <a:srcRect l="-417" r="-417" t="0" b="0"/>
          <a:stretch/>
        </p:blipFill>
        <p:spPr>
          <a:xfrm>
            <a:off x="6083300" y="2768600"/>
            <a:ext cx="153670" cy="190500"/>
          </a:xfrm>
          <a:prstGeom prst="rect">
            <a:avLst/>
          </a:prstGeom>
        </p:spPr>
      </p:pic>
      <p:sp>
        <p:nvSpPr>
          <p:cNvPr id="8" name="Text 2"/>
          <p:cNvSpPr/>
          <p:nvPr/>
        </p:nvSpPr>
        <p:spPr>
          <a:xfrm>
            <a:off x="6338570" y="2768600"/>
            <a:ext cx="5191849" cy="5016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75"/>
              </a:lnSpc>
              <a:buNone/>
            </a:pPr>
            <a:r>
              <a:rPr lang="en-US" sz="1250" b="1" dirty="0">
                <a:solidFill>
                  <a:srgbClr val="4A3238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Tela 4 do enunciado:</a:t>
            </a:r>
            <a:r>
              <a:rPr lang="en-US" sz="1250" dirty="0">
                <a:solidFill>
                  <a:srgbClr val="4A3238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 informações completas do item, integrando navegação entre telas.</a:t>
            </a:r>
            <a:endParaRPr lang="en-US" sz="1250" dirty="0"/>
          </a:p>
        </p:txBody>
      </p:sp>
      <p:pic>
        <p:nvPicPr>
          <p:cNvPr id="9" name="Image 4" descr="Link">    </p:cNvPr>
          <p:cNvPicPr>
            <a:picLocks noChangeAspect="1"/>
          </p:cNvPicPr>
          <p:nvPr/>
        </p:nvPicPr>
        <p:blipFill>
          <a:blip r:embed="rId5"/>
          <a:srcRect l="0" r="0" t="-328" b="-328"/>
          <a:stretch/>
        </p:blipFill>
        <p:spPr>
          <a:xfrm>
            <a:off x="6083300" y="3359150"/>
            <a:ext cx="145098" cy="190500"/>
          </a:xfrm>
          <a:prstGeom prst="rect">
            <a:avLst/>
          </a:prstGeom>
        </p:spPr>
      </p:pic>
      <p:sp>
        <p:nvSpPr>
          <p:cNvPr id="10" name="Text 3"/>
          <p:cNvSpPr/>
          <p:nvPr/>
        </p:nvSpPr>
        <p:spPr>
          <a:xfrm>
            <a:off x="6329997" y="3359150"/>
            <a:ext cx="5200679" cy="5016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75"/>
              </a:lnSpc>
              <a:buNone/>
            </a:pPr>
            <a:r>
              <a:rPr lang="en-US" sz="1250" b="1" dirty="0">
                <a:solidFill>
                  <a:srgbClr val="4A3238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RC3:</a:t>
            </a:r>
            <a:r>
              <a:rPr lang="en-US" sz="1250" dirty="0">
                <a:solidFill>
                  <a:srgbClr val="4A3238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 o objeto Recipe chega pronto via arguments da rota /detail — sem nova busca de dados.</a:t>
            </a:r>
            <a:endParaRPr lang="en-US" sz="1250" dirty="0"/>
          </a:p>
        </p:txBody>
      </p:sp>
      <p:pic>
        <p:nvPicPr>
          <p:cNvPr id="11" name="Image 5" descr="Star">    </p:cNvPr>
          <p:cNvPicPr>
            <a:picLocks noChangeAspect="1"/>
          </p:cNvPicPr>
          <p:nvPr/>
        </p:nvPicPr>
        <p:blipFill>
          <a:blip r:embed="rId6"/>
          <a:srcRect l="-245" r="-245" t="0" b="0"/>
          <a:stretch/>
        </p:blipFill>
        <p:spPr>
          <a:xfrm>
            <a:off x="6083300" y="3949700"/>
            <a:ext cx="108479" cy="190500"/>
          </a:xfrm>
          <a:prstGeom prst="rect">
            <a:avLst/>
          </a:prstGeom>
        </p:spPr>
      </p:pic>
      <p:sp>
        <p:nvSpPr>
          <p:cNvPr id="12" name="Text 4"/>
          <p:cNvSpPr/>
          <p:nvPr/>
        </p:nvSpPr>
        <p:spPr>
          <a:xfrm>
            <a:off x="6293379" y="3949700"/>
            <a:ext cx="5238396" cy="5016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75"/>
              </a:lnSpc>
              <a:buNone/>
            </a:pPr>
            <a:r>
              <a:rPr lang="en-US" sz="1250" dirty="0">
                <a:solidFill>
                  <a:srgbClr val="4A3238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O toque no coração alterna entre favoritado e não favoritado (setState) — os dois primeiros prints mostram o antes e o depois.</a:t>
            </a:r>
            <a:endParaRPr lang="en-US" sz="1250" dirty="0"/>
          </a:p>
        </p:txBody>
      </p:sp>
      <p:pic>
        <p:nvPicPr>
          <p:cNvPr id="13" name="Image 6" descr="Book">    </p:cNvPr>
          <p:cNvPicPr>
            <a:picLocks noChangeAspect="1"/>
          </p:cNvPicPr>
          <p:nvPr/>
        </p:nvPicPr>
        <p:blipFill>
          <a:blip r:embed="rId7"/>
          <a:srcRect l="0" r="0" t="-575" b="-575"/>
          <a:stretch/>
        </p:blipFill>
        <p:spPr>
          <a:xfrm>
            <a:off x="6083300" y="4540250"/>
            <a:ext cx="138113" cy="190500"/>
          </a:xfrm>
          <a:prstGeom prst="rect">
            <a:avLst/>
          </a:prstGeom>
        </p:spPr>
      </p:pic>
      <p:sp>
        <p:nvSpPr>
          <p:cNvPr id="14" name="Text 5"/>
          <p:cNvSpPr/>
          <p:nvPr/>
        </p:nvSpPr>
        <p:spPr>
          <a:xfrm>
            <a:off x="6323013" y="4540250"/>
            <a:ext cx="5207873" cy="5016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75"/>
              </a:lnSpc>
              <a:buNone/>
            </a:pPr>
            <a:r>
              <a:rPr lang="en-US" sz="1250" dirty="0">
                <a:solidFill>
                  <a:srgbClr val="4A3238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Ingredientes em checklist e modo de preparo numerado, exatamente como no Figma de referência.</a:t>
            </a:r>
            <a:endParaRPr lang="en-US" sz="12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BF3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C2185B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RECURSOS FLUTTER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800" y="1076958"/>
            <a:ext cx="10883392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220"/>
              </a:lnSpc>
              <a:buNone/>
            </a:pPr>
            <a:r>
              <a:rPr lang="en-US" sz="2800" b="1" dirty="0">
                <a:solidFill>
                  <a:srgbClr val="3A262B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RC1 a RC7 — todos implementados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12800" y="1739900"/>
            <a:ext cx="10566400" cy="2868930"/>
          </a:xfrm>
          <a:prstGeom prst="roundRect">
            <a:avLst>
              <a:gd name="adj" fmla="val 3541"/>
            </a:avLst>
          </a:prstGeom>
          <a:solidFill>
            <a:srgbClr val="FFFFFF"/>
          </a:solidFill>
          <a:ln/>
        </p:spPr>
      </p:sp>
      <p:sp>
        <p:nvSpPr>
          <p:cNvPr id="5" name="Shape 3"/>
          <p:cNvSpPr/>
          <p:nvPr/>
        </p:nvSpPr>
        <p:spPr>
          <a:xfrm>
            <a:off x="812800" y="1739900"/>
            <a:ext cx="10566400" cy="2868930"/>
          </a:xfrm>
          <a:custGeom>
            <a:avLst/>
            <a:gdLst/>
            <a:ahLst/>
            <a:cxnLst/>
            <a:rect l="l" t="t" r="r" b="b"/>
            <a:pathLst>
              <a:path w="10566400" h="2868930">
                <a:moveTo>
                  <a:pt x="101600" y="2868930"/>
                </a:moveTo>
                <a:lnTo>
                  <a:pt x="101600" y="2868930"/>
                </a:lnTo>
                <a:arcTo hR="101600" wR="101600" stAng="5400000" swAng="5400000"/>
                <a:lnTo>
                  <a:pt x="0" y="101600"/>
                </a:lnTo>
                <a:arcTo hR="101600" wR="101600" stAng="10800000" swAng="5400000"/>
                <a:lnTo>
                  <a:pt x="10464800" y="0"/>
                </a:lnTo>
                <a:arcTo hR="101600" wR="101600" stAng="16200000" swAng="5400000"/>
                <a:lnTo>
                  <a:pt x="10566400" y="101600"/>
                </a:lnTo>
                <a:arcTo hR="91017" wR="101600" stAng="0" swAng="-5400000"/>
                <a:lnTo>
                  <a:pt x="101600" y="10583"/>
                </a:lnTo>
                <a:arcTo hR="91017" wR="91017" stAng="16200000" swAng="-5400000"/>
                <a:lnTo>
                  <a:pt x="10583" y="2767330"/>
                </a:lnTo>
                <a:arcTo hR="101600" wR="91017" stAng="10800000" swAng="-5400000"/>
                <a:close/>
              </a:path>
            </a:pathLst>
          </a:custGeom>
          <a:solidFill>
            <a:srgbClr val="141413">
              <a:alpha val="22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823383" y="1750483"/>
            <a:ext cx="10555817" cy="357293"/>
          </a:xfrm>
          <a:custGeom>
            <a:avLst/>
            <a:gdLst/>
            <a:ahLst/>
            <a:cxnLst/>
            <a:rect l="l" t="t" r="r" b="b"/>
            <a:pathLst>
              <a:path w="10555817" h="357293">
                <a:moveTo>
                  <a:pt x="0" y="91017"/>
                </a:moveTo>
                <a:arcTo hR="91017" wR="91017" stAng="10800000" swAng="5400000"/>
                <a:lnTo>
                  <a:pt x="10454217" y="0"/>
                </a:lnTo>
                <a:arcTo hR="101600" wR="101600" stAng="16200000" swAng="5400000"/>
                <a:lnTo>
                  <a:pt x="10555817" y="357293"/>
                </a:lnTo>
                <a:lnTo>
                  <a:pt x="0" y="357293"/>
                </a:lnTo>
                <a:close/>
              </a:path>
            </a:pathLst>
          </a:custGeom>
          <a:solidFill>
            <a:srgbClr val="ECECEC"/>
          </a:solidFill>
          <a:ln/>
        </p:spPr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3383" y="1750483"/>
          <a:ext cx="10555817" cy="2858347"/>
        </p:xfrm>
        <a:graphic>
          <a:graphicData uri="http://schemas.openxmlformats.org/drawingml/2006/table">
            <a:tbl>
              <a:tblPr/>
              <a:tblGrid>
                <a:gridCol w="1055582"/>
                <a:gridCol w="3377861"/>
                <a:gridCol w="6122374"/>
              </a:tblGrid>
              <a:tr h="357293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b="1" dirty="0">
                          <a:solidFill>
                            <a:srgbClr val="FBF3EF"/>
                          </a:solidFill>
                          <a:latin typeface="Nunito Sans" pitchFamily="34" charset="0"/>
                          <a:ea typeface="Nunito Sans" pitchFamily="34" charset="-122"/>
                          <a:cs typeface="Nunito Sans" pitchFamily="34" charset="-120"/>
                        </a:rPr>
                        <a:t>RC</a:t>
                      </a:r>
                      <a:endParaRPr lang="en-US" sz="1300" dirty="0">
                        <a:latin typeface="Nunito Sans" charset="0"/>
                        <a:ea typeface="Nunito Sans" charset="0"/>
                        <a:cs typeface="Nunito Sans" charset="0"/>
                      </a:endParaRPr>
                    </a:p>
                  </a:txBody>
                  <a:tcPr marL="57785" marR="57785" marT="57785" marB="57785" anchor="t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b="1" dirty="0">
                          <a:solidFill>
                            <a:srgbClr val="FBF3EF"/>
                          </a:solidFill>
                          <a:latin typeface="Nunito Sans" pitchFamily="34" charset="0"/>
                          <a:ea typeface="Nunito Sans" pitchFamily="34" charset="-122"/>
                          <a:cs typeface="Nunito Sans" pitchFamily="34" charset="-120"/>
                        </a:rPr>
                        <a:t>Recurso</a:t>
                      </a:r>
                      <a:endParaRPr lang="en-US" sz="1300" dirty="0">
                        <a:latin typeface="Nunito Sans" charset="0"/>
                        <a:ea typeface="Nunito Sans" charset="0"/>
                        <a:cs typeface="Nunito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b="1" dirty="0">
                          <a:solidFill>
                            <a:srgbClr val="FBF3EF"/>
                          </a:solidFill>
                          <a:latin typeface="Nunito Sans" pitchFamily="34" charset="0"/>
                          <a:ea typeface="Nunito Sans" pitchFamily="34" charset="-122"/>
                          <a:cs typeface="Nunito Sans" pitchFamily="34" charset="-120"/>
                        </a:rPr>
                        <a:t>Onde está</a:t>
                      </a:r>
                      <a:endParaRPr lang="en-US" sz="1300" dirty="0">
                        <a:latin typeface="Nunito Sans" charset="0"/>
                        <a:ea typeface="Nunito Sans" charset="0"/>
                        <a:cs typeface="Nunito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7293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3A262B"/>
                          </a:solidFill>
                          <a:latin typeface="Nunito Sans" pitchFamily="34" charset="0"/>
                          <a:ea typeface="Nunito Sans" pitchFamily="34" charset="-122"/>
                          <a:cs typeface="Nunito Sans" pitchFamily="34" charset="-120"/>
                        </a:rPr>
                        <a:t>RC1</a:t>
                      </a:r>
                      <a:endParaRPr lang="en-US" sz="1300" dirty="0">
                        <a:latin typeface="Nunito Sans" charset="0"/>
                        <a:ea typeface="Nunito Sans" charset="0"/>
                        <a:cs typeface="Nunito Sans" charset="0"/>
                      </a:endParaRPr>
                    </a:p>
                  </a:txBody>
                  <a:tcPr marL="57785" marR="57785" marT="57785" marB="57785" anchor="t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3A262B"/>
                          </a:solidFill>
                          <a:latin typeface="Nunito Sans" pitchFamily="34" charset="0"/>
                          <a:ea typeface="Nunito Sans" pitchFamily="34" charset="-122"/>
                          <a:cs typeface="Nunito Sans" pitchFamily="34" charset="-120"/>
                        </a:rPr>
                        <a:t>Estrutura de pastas</a:t>
                      </a:r>
                      <a:endParaRPr lang="en-US" sz="1300" dirty="0">
                        <a:latin typeface="Nunito Sans" charset="0"/>
                        <a:ea typeface="Nunito Sans" charset="0"/>
                        <a:cs typeface="Nunito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3A262B"/>
                          </a:solidFill>
                          <a:latin typeface="Nunito Sans" pitchFamily="34" charset="0"/>
                          <a:ea typeface="Nunito Sans" pitchFamily="34" charset="-122"/>
                          <a:cs typeface="Nunito Sans" pitchFamily="34" charset="-120"/>
                        </a:rPr>
                        <a:t>lib/models, screens, utils, widgets</a:t>
                      </a:r>
                      <a:endParaRPr lang="en-US" sz="1300" dirty="0">
                        <a:latin typeface="Nunito Sans" charset="0"/>
                        <a:ea typeface="Nunito Sans" charset="0"/>
                        <a:cs typeface="Nunito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7293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3A262B"/>
                          </a:solidFill>
                          <a:latin typeface="Nunito Sans" pitchFamily="34" charset="0"/>
                          <a:ea typeface="Nunito Sans" pitchFamily="34" charset="-122"/>
                          <a:cs typeface="Nunito Sans" pitchFamily="34" charset="-120"/>
                        </a:rPr>
                        <a:t>RC2</a:t>
                      </a:r>
                      <a:endParaRPr lang="en-US" sz="1300" dirty="0">
                        <a:latin typeface="Nunito Sans" charset="0"/>
                        <a:ea typeface="Nunito Sans" charset="0"/>
                        <a:cs typeface="Nunito Sans" charset="0"/>
                      </a:endParaRPr>
                    </a:p>
                  </a:txBody>
                  <a:tcPr marL="57785" marR="57785" marT="57785" marB="57785" anchor="t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CAC0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C0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0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3A262B"/>
                          </a:solidFill>
                          <a:latin typeface="Nunito Sans" pitchFamily="34" charset="0"/>
                          <a:ea typeface="Nunito Sans" pitchFamily="34" charset="-122"/>
                          <a:cs typeface="Nunito Sans" pitchFamily="34" charset="-120"/>
                        </a:rPr>
                        <a:t>Navigator e rotas nomeadas</a:t>
                      </a:r>
                      <a:endParaRPr lang="en-US" sz="1300" dirty="0">
                        <a:latin typeface="Nunito Sans" charset="0"/>
                        <a:ea typeface="Nunito Sans" charset="0"/>
                        <a:cs typeface="Nunito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AC0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C0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C0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0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3A262B"/>
                          </a:solidFill>
                          <a:latin typeface="Nunito Sans" pitchFamily="34" charset="0"/>
                          <a:ea typeface="Nunito Sans" pitchFamily="34" charset="-122"/>
                          <a:cs typeface="Nunito Sans" pitchFamily="34" charset="-120"/>
                        </a:rPr>
                        <a:t>main.dart — /home, /form, /detail</a:t>
                      </a:r>
                      <a:endParaRPr lang="en-US" sz="1300" dirty="0">
                        <a:latin typeface="Nunito Sans" charset="0"/>
                        <a:ea typeface="Nunito Sans" charset="0"/>
                        <a:cs typeface="Nunito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AC0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C0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C0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0EC"/>
                    </a:solidFill>
                  </a:tcPr>
                </a:tc>
              </a:tr>
              <a:tr h="357293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3A262B"/>
                          </a:solidFill>
                          <a:latin typeface="Nunito Sans" pitchFamily="34" charset="0"/>
                          <a:ea typeface="Nunito Sans" pitchFamily="34" charset="-122"/>
                          <a:cs typeface="Nunito Sans" pitchFamily="34" charset="-120"/>
                        </a:rPr>
                        <a:t>RC3</a:t>
                      </a:r>
                      <a:endParaRPr lang="en-US" sz="1300" dirty="0">
                        <a:latin typeface="Nunito Sans" charset="0"/>
                        <a:ea typeface="Nunito Sans" charset="0"/>
                        <a:cs typeface="Nunito Sans" charset="0"/>
                      </a:endParaRPr>
                    </a:p>
                  </a:txBody>
                  <a:tcPr marL="57785" marR="57785" marT="57785" marB="57785" anchor="t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C0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3A262B"/>
                          </a:solidFill>
                          <a:latin typeface="Nunito Sans" pitchFamily="34" charset="0"/>
                          <a:ea typeface="Nunito Sans" pitchFamily="34" charset="-122"/>
                          <a:cs typeface="Nunito Sans" pitchFamily="34" charset="-120"/>
                        </a:rPr>
                        <a:t>Passagem de dados entre telas</a:t>
                      </a:r>
                      <a:endParaRPr lang="en-US" sz="1300" dirty="0">
                        <a:latin typeface="Nunito Sans" charset="0"/>
                        <a:ea typeface="Nunito Sans" charset="0"/>
                        <a:cs typeface="Nunito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C0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3A262B"/>
                          </a:solidFill>
                          <a:latin typeface="Nunito Sans" pitchFamily="34" charset="0"/>
                          <a:ea typeface="Nunito Sans" pitchFamily="34" charset="-122"/>
                          <a:cs typeface="Nunito Sans" pitchFamily="34" charset="-120"/>
                        </a:rPr>
                        <a:t>arguments (Recipe) e Navigator.pop(newRecipe)</a:t>
                      </a:r>
                      <a:endParaRPr lang="en-US" sz="1300" dirty="0">
                        <a:latin typeface="Nunito Sans" charset="0"/>
                        <a:ea typeface="Nunito Sans" charset="0"/>
                        <a:cs typeface="Nunito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C0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7293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3A262B"/>
                          </a:solidFill>
                          <a:latin typeface="Nunito Sans" pitchFamily="34" charset="0"/>
                          <a:ea typeface="Nunito Sans" pitchFamily="34" charset="-122"/>
                          <a:cs typeface="Nunito Sans" pitchFamily="34" charset="-120"/>
                        </a:rPr>
                        <a:t>RC4</a:t>
                      </a:r>
                      <a:endParaRPr lang="en-US" sz="1300" dirty="0">
                        <a:latin typeface="Nunito Sans" charset="0"/>
                        <a:ea typeface="Nunito Sans" charset="0"/>
                        <a:cs typeface="Nunito Sans" charset="0"/>
                      </a:endParaRPr>
                    </a:p>
                  </a:txBody>
                  <a:tcPr marL="57785" marR="57785" marT="57785" marB="57785" anchor="t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CAC0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C0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0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3A262B"/>
                          </a:solidFill>
                          <a:latin typeface="Nunito Sans" pitchFamily="34" charset="0"/>
                          <a:ea typeface="Nunito Sans" pitchFamily="34" charset="-122"/>
                          <a:cs typeface="Nunito Sans" pitchFamily="34" charset="-120"/>
                        </a:rPr>
                        <a:t>Formulário com validação</a:t>
                      </a:r>
                      <a:endParaRPr lang="en-US" sz="1300" dirty="0">
                        <a:latin typeface="Nunito Sans" charset="0"/>
                        <a:ea typeface="Nunito Sans" charset="0"/>
                        <a:cs typeface="Nunito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AC0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C0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C0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0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3A262B"/>
                          </a:solidFill>
                          <a:latin typeface="Nunito Sans" pitchFamily="34" charset="0"/>
                          <a:ea typeface="Nunito Sans" pitchFamily="34" charset="-122"/>
                          <a:cs typeface="Nunito Sans" pitchFamily="34" charset="-120"/>
                        </a:rPr>
                        <a:t>RecipeFormScreen — Form, TextFormField</a:t>
                      </a:r>
                      <a:endParaRPr lang="en-US" sz="1300" dirty="0">
                        <a:latin typeface="Nunito Sans" charset="0"/>
                        <a:ea typeface="Nunito Sans" charset="0"/>
                        <a:cs typeface="Nunito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AC0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C0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C0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0EC"/>
                    </a:solidFill>
                  </a:tcPr>
                </a:tc>
              </a:tr>
              <a:tr h="357293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3A262B"/>
                          </a:solidFill>
                          <a:latin typeface="Nunito Sans" pitchFamily="34" charset="0"/>
                          <a:ea typeface="Nunito Sans" pitchFamily="34" charset="-122"/>
                          <a:cs typeface="Nunito Sans" pitchFamily="34" charset="-120"/>
                        </a:rPr>
                        <a:t>RC5</a:t>
                      </a:r>
                      <a:endParaRPr lang="en-US" sz="1300" dirty="0">
                        <a:latin typeface="Nunito Sans" charset="0"/>
                        <a:ea typeface="Nunito Sans" charset="0"/>
                        <a:cs typeface="Nunito Sans" charset="0"/>
                      </a:endParaRPr>
                    </a:p>
                  </a:txBody>
                  <a:tcPr marL="57785" marR="57785" marT="57785" marB="57785" anchor="t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C0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3A262B"/>
                          </a:solidFill>
                          <a:latin typeface="Nunito Sans" pitchFamily="34" charset="0"/>
                          <a:ea typeface="Nunito Sans" pitchFamily="34" charset="-122"/>
                          <a:cs typeface="Nunito Sans" pitchFamily="34" charset="-120"/>
                        </a:rPr>
                        <a:t>Responsividade (MediaQuery)</a:t>
                      </a:r>
                      <a:endParaRPr lang="en-US" sz="1300" dirty="0">
                        <a:latin typeface="Nunito Sans" charset="0"/>
                        <a:ea typeface="Nunito Sans" charset="0"/>
                        <a:cs typeface="Nunito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C0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3A262B"/>
                          </a:solidFill>
                          <a:latin typeface="Nunito Sans" pitchFamily="34" charset="0"/>
                          <a:ea typeface="Nunito Sans" pitchFamily="34" charset="-122"/>
                          <a:cs typeface="Nunito Sans" pitchFamily="34" charset="-120"/>
                        </a:rPr>
                        <a:t>RecipesListScreen — alterna lista/grade</a:t>
                      </a:r>
                      <a:endParaRPr lang="en-US" sz="1300" dirty="0">
                        <a:latin typeface="Nunito Sans" charset="0"/>
                        <a:ea typeface="Nunito Sans" charset="0"/>
                        <a:cs typeface="Nunito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C0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7293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3A262B"/>
                          </a:solidFill>
                          <a:latin typeface="Nunito Sans" pitchFamily="34" charset="0"/>
                          <a:ea typeface="Nunito Sans" pitchFamily="34" charset="-122"/>
                          <a:cs typeface="Nunito Sans" pitchFamily="34" charset="-120"/>
                        </a:rPr>
                        <a:t>RC6</a:t>
                      </a:r>
                      <a:endParaRPr lang="en-US" sz="1300" dirty="0">
                        <a:latin typeface="Nunito Sans" charset="0"/>
                        <a:ea typeface="Nunito Sans" charset="0"/>
                        <a:cs typeface="Nunito Sans" charset="0"/>
                      </a:endParaRPr>
                    </a:p>
                  </a:txBody>
                  <a:tcPr marL="57785" marR="57785" marT="57785" marB="57785" anchor="t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CAC0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C0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0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3A262B"/>
                          </a:solidFill>
                          <a:latin typeface="Nunito Sans" pitchFamily="34" charset="0"/>
                          <a:ea typeface="Nunito Sans" pitchFamily="34" charset="-122"/>
                          <a:cs typeface="Nunito Sans" pitchFamily="34" charset="-120"/>
                        </a:rPr>
                        <a:t>ThemeData centralizado</a:t>
                      </a:r>
                      <a:endParaRPr lang="en-US" sz="1300" dirty="0">
                        <a:latin typeface="Nunito Sans" charset="0"/>
                        <a:ea typeface="Nunito Sans" charset="0"/>
                        <a:cs typeface="Nunito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AC0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C0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C0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0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3A262B"/>
                          </a:solidFill>
                          <a:latin typeface="Nunito Sans" pitchFamily="34" charset="0"/>
                          <a:ea typeface="Nunito Sans" pitchFamily="34" charset="-122"/>
                          <a:cs typeface="Nunito Sans" pitchFamily="34" charset="-120"/>
                        </a:rPr>
                        <a:t>utils/theme.dart</a:t>
                      </a:r>
                      <a:endParaRPr lang="en-US" sz="1300" dirty="0">
                        <a:latin typeface="Nunito Sans" charset="0"/>
                        <a:ea typeface="Nunito Sans" charset="0"/>
                        <a:cs typeface="Nunito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AC0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C0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C0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0EC"/>
                    </a:solidFill>
                  </a:tcPr>
                </a:tc>
              </a:tr>
              <a:tr h="357293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3A262B"/>
                          </a:solidFill>
                          <a:latin typeface="Nunito Sans" pitchFamily="34" charset="0"/>
                          <a:ea typeface="Nunito Sans" pitchFamily="34" charset="-122"/>
                          <a:cs typeface="Nunito Sans" pitchFamily="34" charset="-120"/>
                        </a:rPr>
                        <a:t>RC7</a:t>
                      </a:r>
                      <a:endParaRPr lang="en-US" sz="1300" dirty="0">
                        <a:latin typeface="Nunito Sans" charset="0"/>
                        <a:ea typeface="Nunito Sans" charset="0"/>
                        <a:cs typeface="Nunito Sans" charset="0"/>
                      </a:endParaRPr>
                    </a:p>
                  </a:txBody>
                  <a:tcPr marL="57785" marR="57785" marT="57785" marB="57785" anchor="t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C0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3A262B"/>
                          </a:solidFill>
                          <a:latin typeface="Nunito Sans" pitchFamily="34" charset="0"/>
                          <a:ea typeface="Nunito Sans" pitchFamily="34" charset="-122"/>
                          <a:cs typeface="Nunito Sans" pitchFamily="34" charset="-120"/>
                        </a:rPr>
                        <a:t>Widgets Material</a:t>
                      </a:r>
                      <a:endParaRPr lang="en-US" sz="1300" dirty="0">
                        <a:latin typeface="Nunito Sans" charset="0"/>
                        <a:ea typeface="Nunito Sans" charset="0"/>
                        <a:cs typeface="Nunito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C0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3A262B"/>
                          </a:solidFill>
                          <a:latin typeface="Nunito Sans" pitchFamily="34" charset="0"/>
                          <a:ea typeface="Nunito Sans" pitchFamily="34" charset="-122"/>
                          <a:cs typeface="Nunito Sans" pitchFamily="34" charset="-120"/>
                        </a:rPr>
                        <a:t>AppBar (CustomAppBar) + FloatingActionButton</a:t>
                      </a:r>
                      <a:endParaRPr lang="en-US" sz="1300" dirty="0">
                        <a:latin typeface="Nunito Sans" charset="0"/>
                        <a:ea typeface="Nunito Sans" charset="0"/>
                        <a:cs typeface="Nunito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C0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812800" y="6238242"/>
            <a:ext cx="3174105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A5B62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DishDash · Projeto Bimestral 1 — BRADEMO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2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FF9F5B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FIDELIDADE AO LEIAUTE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800" y="1076958"/>
            <a:ext cx="10883392" cy="492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680"/>
              </a:lnSpc>
              <a:buNone/>
            </a:pPr>
            <a:r>
              <a:rPr lang="en-US" sz="3200" b="1" dirty="0">
                <a:solidFill>
                  <a:srgbClr val="FBF3EF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Identidade visual do Figma mantida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812800" y="3520442"/>
            <a:ext cx="5232400" cy="8788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400" dirty="0">
                <a:solidFill>
                  <a:srgbClr val="D9B8C2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Leiaute de referência: </a:t>
            </a:r>
            <a:r>
              <a:rPr lang="en-US" sz="1400" b="1" dirty="0">
                <a:solidFill>
                  <a:srgbClr val="D9B8C2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Recipe App UI Kit — Food Mobile Cooking App</a:t>
            </a:r>
            <a:r>
              <a:rPr lang="en-US" sz="1400" dirty="0">
                <a:solidFill>
                  <a:srgbClr val="D9B8C2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 (Figma). Cores, tipografia e componentes (cards, formulários, AppBar, FAB) seguem o kit original.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299200" y="1849121"/>
            <a:ext cx="2476500" cy="762000"/>
          </a:xfrm>
          <a:prstGeom prst="roundRect">
            <a:avLst>
              <a:gd name="adj" fmla="val 13333"/>
            </a:avLst>
          </a:prstGeom>
          <a:solidFill>
            <a:srgbClr val="FF5B7F"/>
          </a:solidFill>
          <a:ln/>
        </p:spPr>
      </p:sp>
      <p:sp>
        <p:nvSpPr>
          <p:cNvPr id="6" name="Text 4"/>
          <p:cNvSpPr/>
          <p:nvPr/>
        </p:nvSpPr>
        <p:spPr>
          <a:xfrm>
            <a:off x="6451600" y="2245358"/>
            <a:ext cx="2236851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2B122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#FF5B7F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8905875" y="1852296"/>
            <a:ext cx="2470150" cy="755650"/>
          </a:xfrm>
          <a:prstGeom prst="roundRect">
            <a:avLst>
              <a:gd name="adj" fmla="val 13025"/>
            </a:avLst>
          </a:prstGeom>
          <a:solidFill>
            <a:srgbClr val="FBFBF8"/>
          </a:solidFill>
          <a:ln w="6350">
            <a:solidFill>
              <a:srgbClr val="4A323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060392" y="2240068"/>
            <a:ext cx="222595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2B122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#FBFBF8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299200" y="4010658"/>
            <a:ext cx="2476500" cy="762000"/>
          </a:xfrm>
          <a:prstGeom prst="roundRect">
            <a:avLst>
              <a:gd name="adj" fmla="val 13333"/>
            </a:avLst>
          </a:prstGeom>
          <a:solidFill>
            <a:srgbClr val="4CAF50"/>
          </a:solidFill>
          <a:ln/>
        </p:spPr>
      </p:sp>
      <p:sp>
        <p:nvSpPr>
          <p:cNvPr id="10" name="Text 8"/>
          <p:cNvSpPr/>
          <p:nvPr/>
        </p:nvSpPr>
        <p:spPr>
          <a:xfrm>
            <a:off x="6451600" y="4406900"/>
            <a:ext cx="2236851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0F2A13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#4CAF50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8902700" y="4010658"/>
            <a:ext cx="2476500" cy="762000"/>
          </a:xfrm>
          <a:prstGeom prst="roundRect">
            <a:avLst>
              <a:gd name="adj" fmla="val 13333"/>
            </a:avLst>
          </a:prstGeom>
          <a:solidFill>
            <a:srgbClr val="FFA726"/>
          </a:solidFill>
          <a:ln/>
        </p:spPr>
      </p:sp>
      <p:sp>
        <p:nvSpPr>
          <p:cNvPr id="12" name="Text 10"/>
          <p:cNvSpPr/>
          <p:nvPr/>
        </p:nvSpPr>
        <p:spPr>
          <a:xfrm>
            <a:off x="9055100" y="4406900"/>
            <a:ext cx="2236851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3A22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#FFA726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BF3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2087668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C2185B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STACK UTILIZADA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800" y="2351825"/>
            <a:ext cx="10883392" cy="492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680"/>
              </a:lnSpc>
              <a:buNone/>
            </a:pPr>
            <a:r>
              <a:rPr lang="en-US" sz="3200" b="1" dirty="0">
                <a:solidFill>
                  <a:srgbClr val="3A262B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Tecnologias do projeto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15975" y="3177964"/>
            <a:ext cx="3380317" cy="1589193"/>
          </a:xfrm>
          <a:prstGeom prst="roundRect">
            <a:avLst>
              <a:gd name="adj" fmla="val 9390"/>
            </a:avLst>
          </a:prstGeom>
          <a:solidFill>
            <a:srgbClr val="FFFFFF"/>
          </a:solidFill>
          <a:ln w="6350">
            <a:solidFill>
              <a:srgbClr val="F0DCD8"/>
            </a:solidFill>
            <a:prstDash val="solid"/>
          </a:ln>
        </p:spPr>
      </p:sp>
      <p:pic>
        <p:nvPicPr>
          <p:cNvPr id="5" name="Image 0" descr="Code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072092" y="3434079"/>
            <a:ext cx="254000" cy="2540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72092" y="3764279"/>
            <a:ext cx="2954126" cy="269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3A262B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Flutter &amp; Dart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1072092" y="4084321"/>
            <a:ext cx="2954126" cy="452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A5B62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Framework e linguagem para toda a interface.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4405842" y="3177964"/>
            <a:ext cx="3380317" cy="1589193"/>
          </a:xfrm>
          <a:prstGeom prst="roundRect">
            <a:avLst>
              <a:gd name="adj" fmla="val 9390"/>
            </a:avLst>
          </a:prstGeom>
          <a:solidFill>
            <a:srgbClr val="FFFFFF"/>
          </a:solidFill>
          <a:ln w="6350">
            <a:solidFill>
              <a:srgbClr val="F0DCD8"/>
            </a:solidFill>
            <a:prstDash val="solid"/>
          </a:ln>
        </p:spPr>
      </p:sp>
      <p:pic>
        <p:nvPicPr>
          <p:cNvPr id="9" name="Image 1" descr="Settings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661958" y="3434079"/>
            <a:ext cx="254000" cy="25400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4661958" y="3764279"/>
            <a:ext cx="2954126" cy="269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3A262B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Material Design</a:t>
            </a:r>
            <a:endParaRPr lang="en-US" sz="1600" dirty="0"/>
          </a:p>
        </p:txBody>
      </p:sp>
      <p:sp>
        <p:nvSpPr>
          <p:cNvPr id="11" name="Text 7"/>
          <p:cNvSpPr/>
          <p:nvPr/>
        </p:nvSpPr>
        <p:spPr>
          <a:xfrm>
            <a:off x="4661958" y="4084321"/>
            <a:ext cx="2954126" cy="452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A5B62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AppBar, Cards, FAB e ThemeData centralizado.</a:t>
            </a:r>
            <a:endParaRPr lang="en-US" sz="1200" dirty="0"/>
          </a:p>
        </p:txBody>
      </p:sp>
      <p:sp>
        <p:nvSpPr>
          <p:cNvPr id="12" name="Shape 8"/>
          <p:cNvSpPr/>
          <p:nvPr/>
        </p:nvSpPr>
        <p:spPr>
          <a:xfrm>
            <a:off x="7995708" y="3177964"/>
            <a:ext cx="3380317" cy="1589193"/>
          </a:xfrm>
          <a:prstGeom prst="roundRect">
            <a:avLst>
              <a:gd name="adj" fmla="val 9390"/>
            </a:avLst>
          </a:prstGeom>
          <a:solidFill>
            <a:srgbClr val="FFFFFF"/>
          </a:solidFill>
          <a:ln w="6350">
            <a:solidFill>
              <a:srgbClr val="F0DCD8"/>
            </a:solidFill>
            <a:prstDash val="solid"/>
          </a:ln>
        </p:spPr>
      </p:sp>
      <p:pic>
        <p:nvPicPr>
          <p:cNvPr id="13" name="Image 2" descr="Link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8251825" y="3434079"/>
            <a:ext cx="254000" cy="25400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8251825" y="3764279"/>
            <a:ext cx="2954126" cy="269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3A262B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Navigator</a:t>
            </a:r>
            <a:endParaRPr lang="en-US" sz="1600" dirty="0"/>
          </a:p>
        </p:txBody>
      </p:sp>
      <p:sp>
        <p:nvSpPr>
          <p:cNvPr id="15" name="Text 10"/>
          <p:cNvSpPr/>
          <p:nvPr/>
        </p:nvSpPr>
        <p:spPr>
          <a:xfrm>
            <a:off x="8251825" y="4084321"/>
            <a:ext cx="2954126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A5B62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Rotas nomeadas nativas do Flutter.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2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rotWithShape="1">
            <a:gsLst>
              <a:gs pos="0">
                <a:srgbClr val="2B1220"/>
              </a:gs>
              <a:gs pos="100000">
                <a:srgbClr val="3A162A"/>
              </a:gs>
            </a:gsLst>
            <a:lin ang="2700000" scaled="0"/>
          </a:gradFill>
          <a:ln/>
        </p:spPr>
      </p:sp>
      <p:pic>
        <p:nvPicPr>
          <p:cNvPr id="3" name="Image 0" descr="ellipse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8636000" y="3302000"/>
            <a:ext cx="3556000" cy="35560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12800" y="2475229"/>
            <a:ext cx="2410174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spc="100" kern="0" dirty="0">
                <a:solidFill>
                  <a:srgbClr val="FF9F5B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DEMONSTRAÇÃO AO VIVO</a:t>
            </a:r>
            <a:endParaRPr lang="en-US" sz="1300" dirty="0"/>
          </a:p>
        </p:txBody>
      </p:sp>
      <p:sp>
        <p:nvSpPr>
          <p:cNvPr id="5" name="Text 2"/>
          <p:cNvSpPr/>
          <p:nvPr/>
        </p:nvSpPr>
        <p:spPr>
          <a:xfrm>
            <a:off x="812800" y="2909571"/>
            <a:ext cx="3663552" cy="807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6160"/>
              </a:lnSpc>
              <a:buNone/>
            </a:pPr>
            <a:r>
              <a:rPr lang="en-US" sz="5600" b="1" dirty="0">
                <a:solidFill>
                  <a:srgbClr val="FBF3EF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Obrigado!</a:t>
            </a:r>
            <a:endParaRPr lang="en-US" sz="5600" dirty="0"/>
          </a:p>
        </p:txBody>
      </p:sp>
      <p:sp>
        <p:nvSpPr>
          <p:cNvPr id="6" name="Text 3"/>
          <p:cNvSpPr/>
          <p:nvPr/>
        </p:nvSpPr>
        <p:spPr>
          <a:xfrm>
            <a:off x="812800" y="3895092"/>
            <a:ext cx="6032630" cy="309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D9B8C2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Perguntas são bem-vindas. Vamos mostrar o DishDash rodando.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812800" y="6238242"/>
            <a:ext cx="1272328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FBF3EF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Áquila &amp; Eduardo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2339128" y="6238242"/>
            <a:ext cx="1610783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D9B8C2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DishDash · Recipe App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DishDash — Apresentação do Projeto</dc:title>
  <dc:subject>PptxGenJS Presentation</dc:subject>
  <dc:creator>PptxGenJS</dc:creator>
  <cp:lastModifiedBy>PptxGenJS</cp:lastModifiedBy>
  <cp:revision>1</cp:revision>
  <dcterms:created xsi:type="dcterms:W3CDTF">2026-09-28T02:13:12Z</dcterms:created>
  <dcterms:modified xsi:type="dcterms:W3CDTF">2026-09-28T02:13:12Z</dcterms:modified>
</cp:coreProperties>
</file>